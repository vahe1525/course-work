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72" r:id="rId4"/>
    <p:sldId id="258" r:id="rId5"/>
    <p:sldId id="259" r:id="rId6"/>
    <p:sldId id="273" r:id="rId7"/>
    <p:sldId id="260" r:id="rId8"/>
    <p:sldId id="274" r:id="rId9"/>
    <p:sldId id="261" r:id="rId10"/>
    <p:sldId id="275" r:id="rId11"/>
    <p:sldId id="276" r:id="rId12"/>
    <p:sldId id="278" r:id="rId13"/>
    <p:sldId id="262" r:id="rId14"/>
    <p:sldId id="263" r:id="rId15"/>
    <p:sldId id="279" r:id="rId16"/>
    <p:sldId id="265" r:id="rId17"/>
    <p:sldId id="266" r:id="rId18"/>
    <p:sldId id="280" r:id="rId19"/>
    <p:sldId id="267" r:id="rId20"/>
    <p:sldId id="281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413C8-AB35-4DE8-A236-6734CA09B1CE}" v="144" dt="2025-11-30T11:18:20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63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7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43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7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7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6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9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5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0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0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8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100" y="1814511"/>
            <a:ext cx="3390900" cy="3228975"/>
          </a:xfr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hy-AM" sz="2400" dirty="0">
                <a:solidFill>
                  <a:schemeClr val="tx1"/>
                </a:solidFill>
              </a:rPr>
              <a:t>Կրծքագեղձի Քաղցկեղի Կանխատեսում</a:t>
            </a:r>
          </a:p>
          <a:p>
            <a:r>
              <a:rPr lang="en-US" sz="2400" dirty="0">
                <a:solidFill>
                  <a:schemeClr val="tx1"/>
                </a:solidFill>
              </a:rPr>
              <a:t>Random Forest </a:t>
            </a:r>
            <a:r>
              <a:rPr lang="hy-AM" sz="2400" dirty="0">
                <a:solidFill>
                  <a:schemeClr val="tx1"/>
                </a:solidFill>
              </a:rPr>
              <a:t>Ալգորիթմով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r>
              <a:rPr lang="hy-AM" dirty="0">
                <a:solidFill>
                  <a:schemeClr val="bg1"/>
                </a:solidFill>
              </a:rPr>
              <a:t>Ուսանող՝ Վահե Կարմիրշալյան</a:t>
            </a:r>
          </a:p>
          <a:p>
            <a:r>
              <a:rPr lang="hy-AM" dirty="0">
                <a:solidFill>
                  <a:schemeClr val="bg1"/>
                </a:solidFill>
              </a:rPr>
              <a:t>Խումբ՝ ՏՏ-361</a:t>
            </a:r>
          </a:p>
          <a:p>
            <a:r>
              <a:rPr lang="hy-AM" dirty="0">
                <a:solidFill>
                  <a:schemeClr val="bg1"/>
                </a:solidFill>
              </a:rPr>
              <a:t>Ղեկավարներ՝ Չիլինգարյան Մ․Գ․, Մելիքյան Ա․Վ․</a:t>
            </a:r>
          </a:p>
          <a:p>
            <a:r>
              <a:rPr lang="hy-AM" dirty="0">
                <a:solidFill>
                  <a:schemeClr val="bg1"/>
                </a:solidFill>
              </a:rPr>
              <a:t>Բուհ՝ ՀԱՊՀ</a:t>
            </a:r>
          </a:p>
          <a:p>
            <a:r>
              <a:rPr lang="hy-AM" dirty="0">
                <a:solidFill>
                  <a:schemeClr val="bg1"/>
                </a:solidFill>
              </a:rPr>
              <a:t>Տարեթիվ՝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4AD1E-5A1F-893C-6A27-9D53F462EAE2}"/>
              </a:ext>
            </a:extLst>
          </p:cNvPr>
          <p:cNvSpPr txBox="1"/>
          <p:nvPr/>
        </p:nvSpPr>
        <p:spPr>
          <a:xfrm>
            <a:off x="5153025" y="1814511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>
                <a:solidFill>
                  <a:schemeClr val="bg1"/>
                </a:solidFill>
              </a:rPr>
              <a:t>ԿՈՒՐՍԱՅԻՆ ԱՇԽԱՏԱՆՔ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 err="1"/>
              <a:t>Ներածություն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1843590"/>
            <a:ext cx="6584634" cy="33269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y-AM" sz="1500" b="1" dirty="0">
                <a:solidFill>
                  <a:srgbClr val="404040"/>
                </a:solidFill>
              </a:rPr>
              <a:t>Կրծքագեղձի քաղցկեղը</a:t>
            </a:r>
            <a:r>
              <a:rPr lang="hy-AM" sz="1500" dirty="0">
                <a:solidFill>
                  <a:srgbClr val="404040"/>
                </a:solidFill>
              </a:rPr>
              <a:t> կանանց մոտ ամենատարածված և վտանգավոր հիվանդություններից է, որի վաղ հայտնաբերումը վճռորոշ է բուժման հաջողության համար։</a:t>
            </a:r>
            <a:br>
              <a:rPr lang="hy-AM" sz="1500" dirty="0">
                <a:solidFill>
                  <a:srgbClr val="404040"/>
                </a:solidFill>
              </a:rPr>
            </a:br>
            <a:r>
              <a:rPr lang="hy-AM" sz="1500" dirty="0">
                <a:solidFill>
                  <a:srgbClr val="404040"/>
                </a:solidFill>
              </a:rPr>
              <a:t>Ժամանակակից բժշկության մեջ աճում է </a:t>
            </a:r>
            <a:r>
              <a:rPr lang="hy-AM" sz="1500" b="1" dirty="0">
                <a:solidFill>
                  <a:srgbClr val="404040"/>
                </a:solidFill>
              </a:rPr>
              <a:t>մեքենայական ուսուցման</a:t>
            </a:r>
            <a:r>
              <a:rPr lang="hy-AM" sz="1500" dirty="0">
                <a:solidFill>
                  <a:srgbClr val="404040"/>
                </a:solidFill>
              </a:rPr>
              <a:t> դերակատարությունը, որը թույլ է տալիս վերլուծել մեծածավալ բժշկական տվյալներ և ավտոմատացնել ախտորոշման գործընթացը։</a:t>
            </a:r>
          </a:p>
          <a:p>
            <a:pPr>
              <a:lnSpc>
                <a:spcPct val="90000"/>
              </a:lnSpc>
            </a:pPr>
            <a:r>
              <a:rPr lang="hy-AM" sz="1500" dirty="0">
                <a:solidFill>
                  <a:srgbClr val="404040"/>
                </a:solidFill>
              </a:rPr>
              <a:t>Այս աշխատանքը նպատակ ունի ցույց տալ, թե ինչպես կարող են </a:t>
            </a:r>
            <a:r>
              <a:rPr lang="en-US" sz="1500" dirty="0">
                <a:solidFill>
                  <a:srgbClr val="404040"/>
                </a:solidFill>
                <a:latin typeface="Aptos" panose="020B0004020202020204" pitchFamily="34" charset="0"/>
              </a:rPr>
              <a:t>ML </a:t>
            </a:r>
            <a:r>
              <a:rPr lang="hy-AM" sz="1500" dirty="0">
                <a:solidFill>
                  <a:srgbClr val="404040"/>
                </a:solidFill>
              </a:rPr>
              <a:t>մեթոդները՝ հատկապես </a:t>
            </a:r>
            <a:r>
              <a:rPr lang="en-US" sz="1500" b="1" dirty="0">
                <a:solidFill>
                  <a:srgbClr val="404040"/>
                </a:solidFill>
                <a:latin typeface="Aptos" panose="020B0004020202020204" pitchFamily="34" charset="0"/>
              </a:rPr>
              <a:t>Random Forest–</a:t>
            </a:r>
            <a:r>
              <a:rPr lang="hy-AM" sz="1500" b="1" dirty="0">
                <a:solidFill>
                  <a:srgbClr val="404040"/>
                </a:solidFill>
              </a:rPr>
              <a:t>ը</a:t>
            </a:r>
            <a:r>
              <a:rPr lang="hy-AM" sz="1500" dirty="0">
                <a:solidFill>
                  <a:srgbClr val="404040"/>
                </a:solidFill>
              </a:rPr>
              <a:t>,</a:t>
            </a:r>
            <a:br>
              <a:rPr lang="hy-AM" sz="1500" dirty="0">
                <a:solidFill>
                  <a:srgbClr val="404040"/>
                </a:solidFill>
              </a:rPr>
            </a:br>
            <a:r>
              <a:rPr lang="hy-AM" sz="1500" dirty="0">
                <a:solidFill>
                  <a:srgbClr val="404040"/>
                </a:solidFill>
              </a:rPr>
              <a:t>օգնել բացահայտել բջջային տվյալների օրինաչափությունները և ապահովել ավելի </a:t>
            </a:r>
            <a:r>
              <a:rPr lang="hy-AM" sz="1500" b="1" dirty="0">
                <a:solidFill>
                  <a:srgbClr val="404040"/>
                </a:solidFill>
              </a:rPr>
              <a:t>արագ</a:t>
            </a:r>
            <a:r>
              <a:rPr lang="hy-AM" sz="1500" dirty="0">
                <a:solidFill>
                  <a:srgbClr val="404040"/>
                </a:solidFill>
              </a:rPr>
              <a:t>, </a:t>
            </a:r>
            <a:r>
              <a:rPr lang="hy-AM" sz="1500" b="1" dirty="0">
                <a:solidFill>
                  <a:srgbClr val="404040"/>
                </a:solidFill>
              </a:rPr>
              <a:t>ճշգրիտ</a:t>
            </a:r>
            <a:r>
              <a:rPr lang="hy-AM" sz="1500" dirty="0">
                <a:solidFill>
                  <a:srgbClr val="404040"/>
                </a:solidFill>
              </a:rPr>
              <a:t> և </a:t>
            </a:r>
            <a:r>
              <a:rPr lang="hy-AM" sz="1500" b="1" dirty="0">
                <a:solidFill>
                  <a:srgbClr val="404040"/>
                </a:solidFill>
              </a:rPr>
              <a:t>վստահելի</a:t>
            </a:r>
            <a:r>
              <a:rPr lang="hy-AM" sz="1500" dirty="0">
                <a:solidFill>
                  <a:srgbClr val="404040"/>
                </a:solidFill>
              </a:rPr>
              <a:t> կանխատեսումներ հիվանդության բնույթի վերաբերյալ։</a:t>
            </a:r>
          </a:p>
          <a:p>
            <a:pPr>
              <a:lnSpc>
                <a:spcPct val="90000"/>
              </a:lnSpc>
            </a:pPr>
            <a:endParaRPr lang="hy-AM" sz="15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CE716-394C-3CB6-DD62-B05F6291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0852-DE05-8FA0-ABC0-9897C341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hy-AM" sz="2100" b="1" dirty="0">
                <a:solidFill>
                  <a:schemeClr val="tx1"/>
                </a:solidFill>
              </a:rPr>
              <a:t>Խնդրի Դրվածք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9708B-B1E5-6F22-5F4D-AA63C342F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6886" y="85457"/>
            <a:ext cx="4056522" cy="6708449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hy-AM" sz="1200" b="1" dirty="0">
                <a:solidFill>
                  <a:schemeClr val="bg1"/>
                </a:solidFill>
              </a:rPr>
              <a:t>Հետազոտության օբյեկտ</a:t>
            </a:r>
            <a:endParaRPr lang="hy-AM" sz="12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Կրծքագեղձի քաղցկեղի ախտորոշման գործընթացը և տվյալների վերլուծության մեթոդները, որոնք նպաստում են հիվանդության վաղ հայտնաբերմանը։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y-AM" sz="1200" b="1" dirty="0">
                <a:solidFill>
                  <a:schemeClr val="bg1"/>
                </a:solidFill>
              </a:rPr>
              <a:t>Հետազոտության առարկա</a:t>
            </a:r>
            <a:endParaRPr lang="hy-AM" sz="12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200" i="1" dirty="0">
                <a:solidFill>
                  <a:schemeClr val="bg1"/>
                </a:solidFill>
              </a:rPr>
              <a:t>Wisconsin Diagnostic Breast Cancer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hy-AM" sz="1200" dirty="0">
                <a:solidFill>
                  <a:schemeClr val="bg1"/>
                </a:solidFill>
              </a:rPr>
              <a:t>տվյալների բազա՝ 569 պացիենտի բջջային տվյալներով։</a:t>
            </a: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Տվյալները պարունակում են կորիզների բնութագրեր, որոնց հիման վրա ուռուցքը դասակարգվում է որպես բարորակ կամ չարորակ։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y-AM" sz="1200" b="1" dirty="0">
                <a:solidFill>
                  <a:schemeClr val="bg1"/>
                </a:solidFill>
              </a:rPr>
              <a:t>Նպատակ</a:t>
            </a:r>
            <a:endParaRPr lang="hy-AM" sz="12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Ուսումնասիրել տվյալների կառուցվածքը, իրականացնել նախնական վերլուծություն և առանձնացնել այն հատկանիշները, որոնք հիմք են ծառայում կանխատեսող </a:t>
            </a:r>
            <a:r>
              <a:rPr lang="en-US" sz="1200" dirty="0">
                <a:solidFill>
                  <a:schemeClr val="bg1"/>
                </a:solidFill>
              </a:rPr>
              <a:t>ML </a:t>
            </a:r>
            <a:r>
              <a:rPr lang="hy-AM" sz="1200" dirty="0">
                <a:solidFill>
                  <a:schemeClr val="bg1"/>
                </a:solidFill>
              </a:rPr>
              <a:t>մոդելի ստեղծման համար։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y-AM" sz="1200" b="1" dirty="0">
                <a:solidFill>
                  <a:schemeClr val="bg1"/>
                </a:solidFill>
              </a:rPr>
              <a:t>Խնդիրներ</a:t>
            </a:r>
            <a:endParaRPr lang="hy-AM" sz="12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Տվյալների կառուցվածքի ուսումնասիրում</a:t>
            </a: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Հատկանիշների վերլուծություն</a:t>
            </a: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Նախնական մշակման իրականացում</a:t>
            </a: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Վերլուծության արդյունքների ամփոփում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y-AM" sz="1200" b="1" dirty="0">
                <a:solidFill>
                  <a:schemeClr val="bg1"/>
                </a:solidFill>
              </a:rPr>
              <a:t>Իրականացման հաջորդականություն</a:t>
            </a:r>
            <a:endParaRPr lang="hy-AM" sz="12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Տվյալների բազայի ուսումնասիրում</a:t>
            </a: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Վիճակագրական և նկարագրական վերլուծություն</a:t>
            </a:r>
          </a:p>
          <a:p>
            <a:pPr lvl="1">
              <a:lnSpc>
                <a:spcPct val="90000"/>
              </a:lnSpc>
            </a:pPr>
            <a:r>
              <a:rPr lang="hy-AM" sz="1200" dirty="0">
                <a:solidFill>
                  <a:schemeClr val="bg1"/>
                </a:solidFill>
              </a:rPr>
              <a:t>Եզրակացությունների ներկայացում՝ հետագա մոդելավորման համար</a:t>
            </a:r>
          </a:p>
          <a:p>
            <a:pPr>
              <a:lnSpc>
                <a:spcPct val="90000"/>
              </a:lnSpc>
            </a:pPr>
            <a:endParaRPr lang="hy-AM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69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 err="1"/>
              <a:t>Տեսկան</a:t>
            </a:r>
            <a:r>
              <a:rPr b="1" dirty="0"/>
              <a:t> </a:t>
            </a:r>
            <a:r>
              <a:rPr b="1" dirty="0" err="1"/>
              <a:t>Դրույթներ</a:t>
            </a:r>
            <a:r>
              <a:rPr b="1" dirty="0"/>
              <a:t> </a:t>
            </a:r>
            <a:r>
              <a:rPr b="1" dirty="0" err="1"/>
              <a:t>Մեքենայական</a:t>
            </a:r>
            <a:r>
              <a:rPr b="1" dirty="0"/>
              <a:t> </a:t>
            </a:r>
            <a:r>
              <a:rPr b="1" dirty="0" err="1"/>
              <a:t>Ուսուցում</a:t>
            </a:r>
            <a:r>
              <a:rPr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1943100"/>
            <a:ext cx="6584634" cy="34861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Մեքենայական ուսուցումը</a:t>
            </a:r>
            <a:r>
              <a:rPr lang="hy-AM" sz="1400" dirty="0">
                <a:solidFill>
                  <a:srgbClr val="404040"/>
                </a:solidFill>
              </a:rPr>
              <a:t> արհեստական բանականության ճյուղ է, որը համակարգերին թույլ է տալիս սովորել տվյալներից, հայտնաբերել օրինաչափություններ և կատարել կանխատեսումներ առանց բացահայտ ծրագրավորման։ Այն լայնորեն կիրառվում է բժշկության, ֆինանսների, տեխնոլոգիաների և բազմաթիվ այլ ոլորտներում։</a:t>
            </a:r>
          </a:p>
          <a:p>
            <a:pPr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Մեքենայական ուսուցման հիմնական խնդիրները․</a:t>
            </a:r>
            <a:endParaRPr lang="hy-AM" sz="1400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Դասակարգում (</a:t>
            </a:r>
            <a:r>
              <a:rPr lang="en-US" sz="1400" b="1" dirty="0">
                <a:solidFill>
                  <a:srgbClr val="404040"/>
                </a:solidFill>
              </a:rPr>
              <a:t>Classification)</a:t>
            </a:r>
            <a:r>
              <a:rPr lang="en-US" sz="1400" dirty="0">
                <a:solidFill>
                  <a:srgbClr val="404040"/>
                </a:solidFill>
              </a:rPr>
              <a:t> – </a:t>
            </a:r>
            <a:r>
              <a:rPr lang="hy-AM" sz="1400" dirty="0">
                <a:solidFill>
                  <a:srgbClr val="404040"/>
                </a:solidFill>
              </a:rPr>
              <a:t>տվյալների բաժանում դասերի (օր․՝ «չարորակ» / «բարորակ»)</a:t>
            </a:r>
          </a:p>
          <a:p>
            <a:pPr lvl="1"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Ռեգրեսիա (</a:t>
            </a:r>
            <a:r>
              <a:rPr lang="en-US" sz="1400" b="1" dirty="0">
                <a:solidFill>
                  <a:srgbClr val="404040"/>
                </a:solidFill>
              </a:rPr>
              <a:t>Regression)</a:t>
            </a:r>
            <a:r>
              <a:rPr lang="en-US" sz="1400" dirty="0">
                <a:solidFill>
                  <a:srgbClr val="404040"/>
                </a:solidFill>
              </a:rPr>
              <a:t> – </a:t>
            </a:r>
            <a:r>
              <a:rPr lang="hy-AM" sz="1400" dirty="0">
                <a:solidFill>
                  <a:srgbClr val="404040"/>
                </a:solidFill>
              </a:rPr>
              <a:t>շարունակական մեծությունների կանխատեսում</a:t>
            </a:r>
          </a:p>
          <a:p>
            <a:pPr lvl="1"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Խմբավորում (</a:t>
            </a:r>
            <a:r>
              <a:rPr lang="en-US" sz="1400" b="1" dirty="0">
                <a:solidFill>
                  <a:srgbClr val="404040"/>
                </a:solidFill>
              </a:rPr>
              <a:t>Clustering)</a:t>
            </a:r>
            <a:r>
              <a:rPr lang="en-US" sz="1400" dirty="0">
                <a:solidFill>
                  <a:srgbClr val="404040"/>
                </a:solidFill>
              </a:rPr>
              <a:t> – </a:t>
            </a:r>
            <a:r>
              <a:rPr lang="hy-AM" sz="1400" dirty="0">
                <a:solidFill>
                  <a:srgbClr val="404040"/>
                </a:solidFill>
              </a:rPr>
              <a:t>տվյալների բաժանում խմբերի՝ առանց պիտակների</a:t>
            </a:r>
          </a:p>
          <a:p>
            <a:pPr>
              <a:lnSpc>
                <a:spcPct val="90000"/>
              </a:lnSpc>
            </a:pPr>
            <a:endParaRPr lang="hy-AM" sz="14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hy-AM" sz="2100" b="1" dirty="0">
                <a:solidFill>
                  <a:schemeClr val="tx1"/>
                </a:solidFill>
              </a:rPr>
              <a:t>Խնդրի լուծման ալգորիթմը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2925" y="-1"/>
            <a:ext cx="4657725" cy="67722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y-AM" sz="1300" dirty="0">
                <a:solidFill>
                  <a:schemeClr val="bg1"/>
                </a:solidFill>
              </a:rPr>
              <a:t>Կրծքագեղձի քաղցկեղի կանխատեսման համար այս աշխատանքում ընտրվել է պատահական անտառ (</a:t>
            </a:r>
            <a:r>
              <a:rPr lang="en-US" sz="1300" b="1" dirty="0">
                <a:solidFill>
                  <a:schemeClr val="bg1"/>
                </a:solidFill>
                <a:latin typeface="Aptos" panose="020B0004020202020204" pitchFamily="34" charset="0"/>
              </a:rPr>
              <a:t>Random Forest)</a:t>
            </a:r>
            <a:r>
              <a:rPr lang="en-US" sz="13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hy-AM" sz="1300" dirty="0">
                <a:solidFill>
                  <a:schemeClr val="bg1"/>
                </a:solidFill>
              </a:rPr>
              <a:t>դասակարգման ալգորիթմը, որը հիմնված է բազմակի վճիռների ծառերի համախմբման վրա։</a:t>
            </a:r>
            <a:br>
              <a:rPr lang="hy-AM" sz="1300" dirty="0">
                <a:solidFill>
                  <a:schemeClr val="bg1"/>
                </a:solidFill>
              </a:rPr>
            </a:br>
            <a:r>
              <a:rPr lang="hy-AM" sz="1300" dirty="0">
                <a:solidFill>
                  <a:schemeClr val="bg1"/>
                </a:solidFill>
              </a:rPr>
              <a:t>Յուրաքանչյուր ծառ ուսուցանվում է տվյալների տարբեր ենթաբազմությունների վրա, ինչի արդյունքում ստացվում է ավելի </a:t>
            </a:r>
            <a:r>
              <a:rPr lang="hy-AM" sz="1300" b="1" dirty="0">
                <a:solidFill>
                  <a:schemeClr val="bg1"/>
                </a:solidFill>
              </a:rPr>
              <a:t>կայուն</a:t>
            </a:r>
            <a:r>
              <a:rPr lang="hy-AM" sz="1300" dirty="0">
                <a:solidFill>
                  <a:schemeClr val="bg1"/>
                </a:solidFill>
              </a:rPr>
              <a:t>, </a:t>
            </a:r>
            <a:r>
              <a:rPr lang="hy-AM" sz="1300" b="1" dirty="0">
                <a:solidFill>
                  <a:schemeClr val="bg1"/>
                </a:solidFill>
              </a:rPr>
              <a:t>ճշգրիտ</a:t>
            </a:r>
            <a:r>
              <a:rPr lang="hy-AM" sz="1300" dirty="0">
                <a:solidFill>
                  <a:schemeClr val="bg1"/>
                </a:solidFill>
              </a:rPr>
              <a:t> մոդել։</a:t>
            </a:r>
          </a:p>
          <a:p>
            <a:pPr>
              <a:lnSpc>
                <a:spcPct val="90000"/>
              </a:lnSpc>
            </a:pPr>
            <a:r>
              <a:rPr lang="hy-AM" sz="1300" b="1" dirty="0">
                <a:solidFill>
                  <a:schemeClr val="bg1"/>
                </a:solidFill>
              </a:rPr>
              <a:t>Ինչու </a:t>
            </a:r>
            <a:r>
              <a:rPr lang="en-US" sz="1300" b="1" dirty="0">
                <a:solidFill>
                  <a:schemeClr val="bg1"/>
                </a:solidFill>
                <a:latin typeface="Aptos" panose="020B0004020202020204" pitchFamily="34" charset="0"/>
              </a:rPr>
              <a:t>Random Forest․</a:t>
            </a:r>
            <a:endParaRPr lang="en-US" sz="13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hy-AM" sz="1300" dirty="0">
                <a:solidFill>
                  <a:schemeClr val="bg1"/>
                </a:solidFill>
              </a:rPr>
              <a:t>Լավ է աշխատում բժշկական բազմաչափ տվյալների վրա</a:t>
            </a:r>
          </a:p>
          <a:p>
            <a:pPr lvl="1">
              <a:lnSpc>
                <a:spcPct val="90000"/>
              </a:lnSpc>
            </a:pPr>
            <a:r>
              <a:rPr lang="hy-AM" sz="1300" dirty="0">
                <a:solidFill>
                  <a:schemeClr val="bg1"/>
                </a:solidFill>
              </a:rPr>
              <a:t>Հաշվի է առնում հատկանիշների փոխկապակցվածությունը</a:t>
            </a:r>
          </a:p>
          <a:p>
            <a:pPr lvl="1">
              <a:lnSpc>
                <a:spcPct val="90000"/>
              </a:lnSpc>
            </a:pPr>
            <a:r>
              <a:rPr lang="hy-AM" sz="1300" dirty="0">
                <a:solidFill>
                  <a:schemeClr val="bg1"/>
                </a:solidFill>
              </a:rPr>
              <a:t>Թույլ է տալիս նվազեցնել </a:t>
            </a:r>
            <a:r>
              <a:rPr lang="en-US" sz="1300" dirty="0">
                <a:solidFill>
                  <a:schemeClr val="bg1"/>
                </a:solidFill>
                <a:latin typeface="Aptos" panose="020B0004020202020204" pitchFamily="34" charset="0"/>
              </a:rPr>
              <a:t>overfitting-</a:t>
            </a:r>
            <a:r>
              <a:rPr lang="hy-AM" sz="1300" dirty="0">
                <a:solidFill>
                  <a:schemeClr val="bg1"/>
                </a:solidFill>
              </a:rPr>
              <a:t>ը՝ ծառերի բազմազանության շնորհիվ</a:t>
            </a:r>
          </a:p>
          <a:p>
            <a:pPr lvl="1">
              <a:lnSpc>
                <a:spcPct val="90000"/>
              </a:lnSpc>
            </a:pPr>
            <a:r>
              <a:rPr lang="hy-AM" sz="1300" dirty="0">
                <a:solidFill>
                  <a:schemeClr val="bg1"/>
                </a:solidFill>
              </a:rPr>
              <a:t>Ապահովում է ընդհանուր բարձր ճշտություն և հուսալիություն</a:t>
            </a:r>
          </a:p>
          <a:p>
            <a:pPr>
              <a:lnSpc>
                <a:spcPct val="90000"/>
              </a:lnSpc>
            </a:pPr>
            <a:r>
              <a:rPr lang="hy-AM" sz="1300" b="1" dirty="0">
                <a:solidFill>
                  <a:schemeClr val="bg1"/>
                </a:solidFill>
                <a:latin typeface="Aptos" panose="020B0004020202020204" pitchFamily="34" charset="0"/>
              </a:rPr>
              <a:t>Վճիռների ծառի</a:t>
            </a:r>
            <a:r>
              <a:rPr lang="hy-AM" sz="1300" b="1" dirty="0">
                <a:solidFill>
                  <a:schemeClr val="bg1"/>
                </a:solidFill>
              </a:rPr>
              <a:t> դերը մոդելում․</a:t>
            </a:r>
            <a:br>
              <a:rPr lang="hy-AM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  <a:latin typeface="Aptos" panose="020B0004020202020204" pitchFamily="34" charset="0"/>
              </a:rPr>
              <a:t>Decision Tree–</a:t>
            </a:r>
            <a:r>
              <a:rPr lang="hy-AM" sz="1300" dirty="0">
                <a:solidFill>
                  <a:schemeClr val="bg1"/>
                </a:solidFill>
              </a:rPr>
              <a:t>ը ծառի կառուցված մոդել է, որը փուլային բաժանումներով առանձնացնում է տվյալների խմբերը։ Այն պարզ ու ինտուիտիվ է, և </a:t>
            </a:r>
            <a:r>
              <a:rPr lang="en-US" sz="1300" dirty="0">
                <a:solidFill>
                  <a:schemeClr val="bg1"/>
                </a:solidFill>
                <a:latin typeface="Aptos" panose="020B0004020202020204" pitchFamily="34" charset="0"/>
              </a:rPr>
              <a:t>Random Forest–</a:t>
            </a:r>
            <a:r>
              <a:rPr lang="hy-AM" sz="1300" dirty="0">
                <a:solidFill>
                  <a:schemeClr val="bg1"/>
                </a:solidFill>
              </a:rPr>
              <a:t>ի համար ծառայում է որպես հիմնական կառուցողական տարր։</a:t>
            </a:r>
            <a:br>
              <a:rPr lang="hy-AM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  <a:latin typeface="Aptos" panose="020B0004020202020204" pitchFamily="34" charset="0"/>
              </a:rPr>
              <a:t>Random Forest–</a:t>
            </a:r>
            <a:r>
              <a:rPr lang="hy-AM" sz="1300" dirty="0">
                <a:solidFill>
                  <a:schemeClr val="bg1"/>
                </a:solidFill>
              </a:rPr>
              <a:t>ը ստեղծում է բազմաթիվ </a:t>
            </a:r>
            <a:r>
              <a:rPr lang="en-US" sz="1300" dirty="0">
                <a:solidFill>
                  <a:schemeClr val="bg1"/>
                </a:solidFill>
                <a:latin typeface="Aptos" panose="020B0004020202020204" pitchFamily="34" charset="0"/>
              </a:rPr>
              <a:t>Decision Tree–</a:t>
            </a:r>
            <a:r>
              <a:rPr lang="hy-AM" sz="1300" dirty="0">
                <a:solidFill>
                  <a:schemeClr val="bg1"/>
                </a:solidFill>
              </a:rPr>
              <a:t>եր, յուրաքանչյուրն իր տարբեր հատկանիշների և տվյալների ենթաբազմությունների ընտրությամբ։ Վերջնական կանխատեսումը որոշվում է բոլոր ծառերի </a:t>
            </a:r>
            <a:r>
              <a:rPr lang="hy-AM" sz="1300" b="1" dirty="0">
                <a:solidFill>
                  <a:schemeClr val="bg1"/>
                </a:solidFill>
              </a:rPr>
              <a:t>մեծամասնության քվեարկությամբ</a:t>
            </a:r>
            <a:r>
              <a:rPr lang="hy-AM" sz="1300" dirty="0">
                <a:solidFill>
                  <a:schemeClr val="bg1"/>
                </a:solidFill>
              </a:rPr>
              <a:t>, ինչը բարձրացնում է մոդելի կայունությունն ու ընդհանուր ճշտությունը։</a:t>
            </a:r>
          </a:p>
          <a:p>
            <a:pPr>
              <a:lnSpc>
                <a:spcPct val="90000"/>
              </a:lnSpc>
            </a:pPr>
            <a:endParaRPr lang="hy-AM" sz="1100" dirty="0">
              <a:solidFill>
                <a:schemeClr val="bg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60671-6C2E-B19F-4F10-BE24D984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EF1F2-FABA-E8B7-C92D-578630E4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 err="1"/>
              <a:t>Վճիռների</a:t>
            </a:r>
            <a:r>
              <a:rPr b="1" dirty="0"/>
              <a:t> </a:t>
            </a:r>
            <a:r>
              <a:rPr b="1" dirty="0" err="1"/>
              <a:t>Ծառեր</a:t>
            </a:r>
            <a:r>
              <a:rPr b="1" dirty="0"/>
              <a:t> (Decision Trees)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17347-6807-5E3D-42A2-C4322C43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546" y="1771649"/>
            <a:ext cx="6584634" cy="374332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1400" b="1" dirty="0">
                <a:solidFill>
                  <a:srgbClr val="404040"/>
                </a:solidFill>
              </a:rPr>
              <a:t>Decision Tree</a:t>
            </a:r>
            <a:r>
              <a:rPr lang="en-US" sz="1400" dirty="0">
                <a:solidFill>
                  <a:srgbClr val="404040"/>
                </a:solidFill>
              </a:rPr>
              <a:t>–</a:t>
            </a:r>
            <a:r>
              <a:rPr lang="hy-AM" sz="1400" dirty="0">
                <a:solidFill>
                  <a:srgbClr val="404040"/>
                </a:solidFill>
              </a:rPr>
              <a:t>ն մեքենայական ուսուցման ալգորիթմ է, որը տվյալները բաժանում է հաջորդական որոշումների միջոցով՝ ստեղծելով ծառանման կառուցվածք։ Այն լայնորեն կիրառվում է դասակարգման և ռեգրեսիայի խնդիրներում իր պարզության և ինտուիտիվության շնորհիվ։</a:t>
            </a:r>
          </a:p>
          <a:p>
            <a:pPr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Ծառի հիմնական բաղադրիչները՝</a:t>
            </a:r>
            <a:endParaRPr lang="hy-AM" sz="1400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100" b="1" dirty="0">
                <a:solidFill>
                  <a:srgbClr val="404040"/>
                </a:solidFill>
              </a:rPr>
              <a:t>Root Node</a:t>
            </a:r>
            <a:r>
              <a:rPr lang="en-US" sz="1100" dirty="0">
                <a:solidFill>
                  <a:srgbClr val="404040"/>
                </a:solidFill>
              </a:rPr>
              <a:t> – </a:t>
            </a:r>
            <a:r>
              <a:rPr lang="hy-AM" sz="1100" dirty="0">
                <a:solidFill>
                  <a:srgbClr val="404040"/>
                </a:solidFill>
              </a:rPr>
              <a:t>առաջին կետը, որտեղ տվյալները բաժանվում են ամենակարևոր հատկանիշով։</a:t>
            </a:r>
          </a:p>
          <a:p>
            <a:pPr lvl="1">
              <a:lnSpc>
                <a:spcPct val="90000"/>
              </a:lnSpc>
            </a:pPr>
            <a:r>
              <a:rPr lang="en-US" sz="1100" b="1" dirty="0">
                <a:solidFill>
                  <a:srgbClr val="404040"/>
                </a:solidFill>
              </a:rPr>
              <a:t>Decision Nodes</a:t>
            </a:r>
            <a:r>
              <a:rPr lang="en-US" sz="1100" dirty="0">
                <a:solidFill>
                  <a:srgbClr val="404040"/>
                </a:solidFill>
              </a:rPr>
              <a:t> – </a:t>
            </a:r>
            <a:r>
              <a:rPr lang="hy-AM" sz="1100" dirty="0">
                <a:solidFill>
                  <a:srgbClr val="404040"/>
                </a:solidFill>
              </a:rPr>
              <a:t>միջանկյալ հանգույցներ, որտեղ կատարվում են նոր բաժանումներ։</a:t>
            </a:r>
          </a:p>
          <a:p>
            <a:pPr lvl="1">
              <a:lnSpc>
                <a:spcPct val="90000"/>
              </a:lnSpc>
            </a:pPr>
            <a:r>
              <a:rPr lang="en-US" sz="1100" b="1" dirty="0">
                <a:solidFill>
                  <a:srgbClr val="404040"/>
                </a:solidFill>
              </a:rPr>
              <a:t>Branches</a:t>
            </a:r>
            <a:r>
              <a:rPr lang="en-US" sz="1100" dirty="0">
                <a:solidFill>
                  <a:srgbClr val="404040"/>
                </a:solidFill>
              </a:rPr>
              <a:t> – </a:t>
            </a:r>
            <a:r>
              <a:rPr lang="hy-AM" sz="1100" dirty="0">
                <a:solidFill>
                  <a:srgbClr val="404040"/>
                </a:solidFill>
              </a:rPr>
              <a:t>ուղիներ, որոնք ներկայացնում են որոշման արդյունքը։</a:t>
            </a:r>
          </a:p>
          <a:p>
            <a:pPr lvl="1">
              <a:lnSpc>
                <a:spcPct val="90000"/>
              </a:lnSpc>
            </a:pPr>
            <a:r>
              <a:rPr lang="en-US" sz="1100" b="1" dirty="0">
                <a:solidFill>
                  <a:srgbClr val="404040"/>
                </a:solidFill>
              </a:rPr>
              <a:t>Leaf Nodes</a:t>
            </a:r>
            <a:r>
              <a:rPr lang="en-US" sz="1100" dirty="0">
                <a:solidFill>
                  <a:srgbClr val="404040"/>
                </a:solidFill>
              </a:rPr>
              <a:t> – </a:t>
            </a:r>
            <a:r>
              <a:rPr lang="hy-AM" sz="1100" dirty="0">
                <a:solidFill>
                  <a:srgbClr val="404040"/>
                </a:solidFill>
              </a:rPr>
              <a:t>վերջնական կետեր, որոնք ներկայացնում են մոդելի կանխատեսումը (օր․՝ բարորակ/չարորակ)։</a:t>
            </a:r>
          </a:p>
          <a:p>
            <a:pPr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Ինչպես է </a:t>
            </a:r>
            <a:r>
              <a:rPr lang="en-US" sz="1400" b="1" dirty="0">
                <a:solidFill>
                  <a:srgbClr val="404040"/>
                </a:solidFill>
              </a:rPr>
              <a:t>Decision Tree-</a:t>
            </a:r>
            <a:r>
              <a:rPr lang="hy-AM" sz="1400" b="1" dirty="0">
                <a:solidFill>
                  <a:srgbClr val="404040"/>
                </a:solidFill>
              </a:rPr>
              <a:t>ը աշխատում․</a:t>
            </a:r>
            <a:endParaRPr lang="hy-AM" sz="14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Ընտրում է այն հատկանիշը, որը տվյալները լավագույնս տարանջատում է, օգտագործելով </a:t>
            </a:r>
            <a:r>
              <a:rPr lang="en-US" sz="1400" dirty="0" err="1">
                <a:solidFill>
                  <a:srgbClr val="404040"/>
                </a:solidFill>
              </a:rPr>
              <a:t>gini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hy-AM" sz="1400" dirty="0">
                <a:solidFill>
                  <a:srgbClr val="404040"/>
                </a:solidFill>
              </a:rPr>
              <a:t>կամ</a:t>
            </a:r>
            <a:r>
              <a:rPr lang="en-US" sz="1400" dirty="0">
                <a:solidFill>
                  <a:srgbClr val="404040"/>
                </a:solidFill>
              </a:rPr>
              <a:t> entropy</a:t>
            </a:r>
            <a:r>
              <a:rPr lang="hy-AM" sz="1400" dirty="0">
                <a:solidFill>
                  <a:srgbClr val="404040"/>
                </a:solidFill>
              </a:rPr>
              <a:t> չափորոշիչները։</a:t>
            </a: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Ստեղծում է բաժանում՝ ըստ շեմային արժեքի կամ կատեգորիայի։</a:t>
            </a: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Յուրաքանչյուր ենթաբազմության համար կրկնի նույն գործընթացը։</a:t>
            </a: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Ավարտում է, երբ հասնում է բավարար «մաքրության» կամ երբ տվյալներն այլևս չեն ենթակա արդյունավետ բաժանման։</a:t>
            </a:r>
          </a:p>
          <a:p>
            <a:pPr>
              <a:lnSpc>
                <a:spcPct val="90000"/>
              </a:lnSpc>
            </a:pPr>
            <a:endParaRPr lang="hy-AM" sz="7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704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chemeClr val="tx1"/>
                </a:solidFill>
              </a:rPr>
              <a:t>Gini </a:t>
            </a:r>
            <a:r>
              <a:rPr lang="hy-AM" sz="2100" b="1" dirty="0">
                <a:solidFill>
                  <a:schemeClr val="tx1"/>
                </a:solidFill>
              </a:rPr>
              <a:t>և </a:t>
            </a:r>
            <a:r>
              <a:rPr lang="en-US" sz="2100" b="1" dirty="0">
                <a:solidFill>
                  <a:schemeClr val="tx1"/>
                </a:solidFill>
              </a:rPr>
              <a:t>entropy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52900" y="76199"/>
                <a:ext cx="4819650" cy="6657975"/>
              </a:xfrm>
            </p:spPr>
            <p:txBody>
              <a:bodyPr anchor="ctr">
                <a:normAutofit fontScale="92500" lnSpcReduction="20000"/>
              </a:bodyPr>
              <a:lstStyle/>
              <a:p>
                <a:pPr>
                  <a:lnSpc>
                    <a:spcPct val="90000"/>
                  </a:lnSpc>
                </a:pPr>
                <a:endParaRPr lang="hy-AM" sz="13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300" dirty="0">
                    <a:solidFill>
                      <a:schemeClr val="bg1"/>
                    </a:solidFill>
                  </a:rPr>
                  <a:t>Decision Tree-</a:t>
                </a:r>
                <a:r>
                  <a:rPr lang="hy-AM" sz="1300" dirty="0">
                    <a:solidFill>
                      <a:schemeClr val="bg1"/>
                    </a:solidFill>
                  </a:rPr>
                  <a:t>ը յուրաքանչյուր հանգույցում գնահատում է տվյալների </a:t>
                </a:r>
                <a:r>
                  <a:rPr lang="hy-AM" sz="1300" b="1" dirty="0">
                    <a:solidFill>
                      <a:schemeClr val="bg1"/>
                    </a:solidFill>
                  </a:rPr>
                  <a:t>խառնվածության</a:t>
                </a:r>
                <a:r>
                  <a:rPr lang="hy-AM" sz="1300" dirty="0">
                    <a:solidFill>
                      <a:schemeClr val="bg1"/>
                    </a:solidFill>
                  </a:rPr>
                  <a:t> կամ </a:t>
                </a:r>
                <a:r>
                  <a:rPr lang="hy-AM" sz="1300" b="1" dirty="0">
                    <a:solidFill>
                      <a:schemeClr val="bg1"/>
                    </a:solidFill>
                  </a:rPr>
                  <a:t>մաքրության</a:t>
                </a:r>
                <a:r>
                  <a:rPr lang="hy-AM" sz="1300" dirty="0">
                    <a:solidFill>
                      <a:schemeClr val="bg1"/>
                    </a:solidFill>
                  </a:rPr>
                  <a:t> մակարդակը՝ որոշելու, արդյոք լավագույն հատկանիշը բաժանման համար։Եթե տվյալները խառն են՝ այսինքն երկու դասերն էլ շատ են հանդիպում, ապա հանգույցը «ոչ մաքուր» է։</a:t>
                </a:r>
                <a:br>
                  <a:rPr lang="hy-AM" sz="1300" dirty="0">
                    <a:solidFill>
                      <a:schemeClr val="bg1"/>
                    </a:solidFill>
                  </a:rPr>
                </a:br>
                <a:r>
                  <a:rPr lang="hy-AM" sz="1300" dirty="0">
                    <a:solidFill>
                      <a:schemeClr val="bg1"/>
                    </a:solidFill>
                  </a:rPr>
                  <a:t>Եթե գրեթե բոլոր նմուշները պատկանում են մի դասին, հանգույցը «մաքուր» է։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300" b="1" u="sng" dirty="0">
                    <a:solidFill>
                      <a:schemeClr val="bg1"/>
                    </a:solidFill>
                  </a:rPr>
                  <a:t>Gini Impurity</a:t>
                </a:r>
                <a:endParaRPr lang="en-US" sz="13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300" dirty="0">
                    <a:solidFill>
                      <a:schemeClr val="bg1"/>
                    </a:solidFill>
                  </a:rPr>
                  <a:t>Gini Impurity-</a:t>
                </a:r>
                <a:r>
                  <a:rPr lang="hy-AM" sz="1300" dirty="0">
                    <a:solidFill>
                      <a:schemeClr val="bg1"/>
                    </a:solidFill>
                  </a:rPr>
                  <a:t>ը ցույց է տալիս, թե որքան հավանական է, որ տվյալ հանգույցից պատահական ընտրված նմուշը սխալ դասի կպատկանի։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y-AM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hy-AM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y-AM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y-AM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/>
                      </m:nary>
                      <m:sSubSup>
                        <m:sSubSupPr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r-AE" sz="15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hy-AM" sz="1300" dirty="0">
                    <a:solidFill>
                      <a:schemeClr val="bg1"/>
                    </a:solidFill>
                  </a:rPr>
                  <a:t>որտեղ</a:t>
                </a:r>
              </a:p>
              <a:p>
                <a:pPr lvl="0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300" dirty="0">
                    <a:solidFill>
                      <a:schemeClr val="bg1"/>
                    </a:solidFill>
                  </a:rPr>
                  <a:t>— </a:t>
                </a:r>
                <a:r>
                  <a:rPr lang="hy-AM" sz="1300" dirty="0">
                    <a:solidFill>
                      <a:schemeClr val="bg1"/>
                    </a:solidFill>
                  </a:rPr>
                  <a:t>տվյալ դասի հավանականությունն է,</a:t>
                </a:r>
              </a:p>
              <a:p>
                <a:pPr lvl="0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hy-AM" sz="1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y-AM" sz="1300" dirty="0">
                    <a:solidFill>
                      <a:schemeClr val="bg1"/>
                    </a:solidFill>
                  </a:rPr>
                  <a:t>— դասերի քանակը ։</a:t>
                </a:r>
              </a:p>
              <a:p>
                <a:pPr>
                  <a:lnSpc>
                    <a:spcPct val="90000"/>
                  </a:lnSpc>
                </a:pPr>
                <a:r>
                  <a:rPr lang="hy-AM" sz="1300" dirty="0">
                    <a:solidFill>
                      <a:schemeClr val="bg1"/>
                    </a:solidFill>
                  </a:rPr>
                  <a:t>Ցածր </a:t>
                </a:r>
                <a:r>
                  <a:rPr lang="en-US" sz="1300" dirty="0">
                    <a:solidFill>
                      <a:schemeClr val="bg1"/>
                    </a:solidFill>
                  </a:rPr>
                  <a:t>Gini</a:t>
                </a:r>
                <a:r>
                  <a:rPr lang="hy-AM" sz="1300" dirty="0">
                    <a:solidFill>
                      <a:schemeClr val="bg1"/>
                    </a:solidFill>
                  </a:rPr>
                  <a:t>՝ հանգույցը ավելի «մաքուր» է։</a:t>
                </a:r>
              </a:p>
              <a:p>
                <a:pPr>
                  <a:lnSpc>
                    <a:spcPct val="90000"/>
                  </a:lnSpc>
                </a:pPr>
                <a:endParaRPr lang="hy-AM" sz="13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300" b="1" u="sng" dirty="0">
                    <a:solidFill>
                      <a:schemeClr val="bg1"/>
                    </a:solidFill>
                  </a:rPr>
                  <a:t>Entropy</a:t>
                </a:r>
                <a:endParaRPr lang="en-US" sz="13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300" dirty="0">
                    <a:solidFill>
                      <a:schemeClr val="bg1"/>
                    </a:solidFill>
                  </a:rPr>
                  <a:t>Entropy-</a:t>
                </a:r>
                <a:r>
                  <a:rPr lang="hy-AM" sz="1300" dirty="0">
                    <a:solidFill>
                      <a:schemeClr val="bg1"/>
                    </a:solidFill>
                  </a:rPr>
                  <a:t>ն չափում է հանգույցի անորոշությունը՝ արդյոք այնտեղ տվյալները խառն են, թե ոչ։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hy-AM" sz="13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hy-AM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/>
                      </m:nary>
                      <m:sSub>
                        <m:sSubPr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</m:e>
                        <m:sub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50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hy-AM" sz="1300" dirty="0">
                    <a:solidFill>
                      <a:schemeClr val="bg1"/>
                    </a:solidFill>
                  </a:rPr>
                  <a:t>որտեղ</a:t>
                </a:r>
              </a:p>
              <a:p>
                <a:pPr lvl="0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3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300" dirty="0">
                    <a:solidFill>
                      <a:schemeClr val="bg1"/>
                    </a:solidFill>
                  </a:rPr>
                  <a:t>— </a:t>
                </a:r>
                <a:r>
                  <a:rPr lang="hy-AM" sz="1300" dirty="0">
                    <a:solidFill>
                      <a:schemeClr val="bg1"/>
                    </a:solidFill>
                  </a:rPr>
                  <a:t>տվյալ դասի հավանականությունն է,</a:t>
                </a:r>
              </a:p>
              <a:p>
                <a:pPr lvl="0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hy-AM" sz="13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y-AM" sz="1300" dirty="0">
                    <a:solidFill>
                      <a:schemeClr val="bg1"/>
                    </a:solidFill>
                  </a:rPr>
                  <a:t>— դասերի քանակը ։</a:t>
                </a:r>
              </a:p>
              <a:p>
                <a:pPr>
                  <a:lnSpc>
                    <a:spcPct val="90000"/>
                  </a:lnSpc>
                </a:pPr>
                <a:r>
                  <a:rPr lang="hy-AM" sz="1300" dirty="0">
                    <a:solidFill>
                      <a:schemeClr val="bg1"/>
                    </a:solidFill>
                  </a:rPr>
                  <a:t>Ցածր </a:t>
                </a:r>
                <a:r>
                  <a:rPr lang="en-US" sz="1300" dirty="0">
                    <a:solidFill>
                      <a:schemeClr val="bg1"/>
                    </a:solidFill>
                  </a:rPr>
                  <a:t>Entropy</a:t>
                </a:r>
                <a:r>
                  <a:rPr lang="hy-AM" sz="1300" dirty="0">
                    <a:solidFill>
                      <a:schemeClr val="bg1"/>
                    </a:solidFill>
                  </a:rPr>
                  <a:t>՝ հանգույցը ավելի մաքուր է։</a:t>
                </a:r>
              </a:p>
              <a:p>
                <a:pPr>
                  <a:lnSpc>
                    <a:spcPct val="90000"/>
                  </a:lnSpc>
                </a:pPr>
                <a:endParaRPr lang="hy-AM" sz="1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hy-AM" sz="7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2900" y="76199"/>
                <a:ext cx="4819650" cy="66579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65736-9C93-BA6B-2BD4-CE9AF839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EA9E0-AE67-F48D-E4BF-359DB9FD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/>
              <a:t>Random Forest </a:t>
            </a:r>
            <a:r>
              <a:rPr b="1" dirty="0" err="1"/>
              <a:t>Ալգորիթմը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0141-7009-4A62-CED0-CA5C16D3F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546" y="1743075"/>
            <a:ext cx="6584634" cy="3771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404040"/>
                </a:solidFill>
              </a:rPr>
              <a:t>Random Forest  </a:t>
            </a:r>
            <a:r>
              <a:rPr lang="hy-AM" sz="1400" dirty="0">
                <a:solidFill>
                  <a:srgbClr val="404040"/>
                </a:solidFill>
              </a:rPr>
              <a:t>Մեքենայական ուսուցման ալգորիթմը ստեղծում է մի քանի վճիռների ծառեր՝ օգտագործելով տվյալների տարբեր ենթաբազմություններ և հատկանիշների տարբեր ընտրություն, և վերջնական կանխատեսումը ստացվում է բոլոր ծառերի արդյունքների քվեարկությամբ կամ միջինացումով։</a:t>
            </a:r>
          </a:p>
          <a:p>
            <a:pPr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Ինչպես է աշխատում </a:t>
            </a:r>
            <a:r>
              <a:rPr lang="en-US" sz="1400" b="1" dirty="0">
                <a:solidFill>
                  <a:srgbClr val="404040"/>
                </a:solidFill>
              </a:rPr>
              <a:t>Random Forest–</a:t>
            </a:r>
            <a:r>
              <a:rPr lang="hy-AM" sz="1400" b="1" dirty="0">
                <a:solidFill>
                  <a:srgbClr val="404040"/>
                </a:solidFill>
              </a:rPr>
              <a:t>ը․</a:t>
            </a:r>
            <a:endParaRPr lang="hy-AM" sz="1400" dirty="0">
              <a:solidFill>
                <a:srgbClr val="40404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200" b="1" dirty="0">
                <a:solidFill>
                  <a:srgbClr val="404040"/>
                </a:solidFill>
              </a:rPr>
              <a:t>Bootstrap Sampling</a:t>
            </a:r>
            <a:r>
              <a:rPr lang="en-US" sz="1200" dirty="0">
                <a:solidFill>
                  <a:srgbClr val="404040"/>
                </a:solidFill>
              </a:rPr>
              <a:t> – </a:t>
            </a:r>
            <a:r>
              <a:rPr lang="hy-AM" sz="1200" dirty="0">
                <a:solidFill>
                  <a:srgbClr val="404040"/>
                </a:solidFill>
              </a:rPr>
              <a:t>յուրաքանչյուր </a:t>
            </a:r>
            <a:r>
              <a:rPr lang="en-US" sz="1200" dirty="0">
                <a:solidFill>
                  <a:srgbClr val="404040"/>
                </a:solidFill>
              </a:rPr>
              <a:t>Decision Tree </a:t>
            </a:r>
            <a:r>
              <a:rPr lang="hy-AM" sz="1200" dirty="0">
                <a:solidFill>
                  <a:srgbClr val="404040"/>
                </a:solidFill>
              </a:rPr>
              <a:t>ստանում է տվյալների պատահական ընտրված ենթաբազմություն։</a:t>
            </a:r>
          </a:p>
          <a:p>
            <a:pPr lvl="1">
              <a:lnSpc>
                <a:spcPct val="90000"/>
              </a:lnSpc>
            </a:pPr>
            <a:r>
              <a:rPr lang="en-US" sz="1200" b="1" dirty="0">
                <a:solidFill>
                  <a:srgbClr val="404040"/>
                </a:solidFill>
              </a:rPr>
              <a:t>Feature Subsampling</a:t>
            </a:r>
            <a:r>
              <a:rPr lang="en-US" sz="1200" dirty="0">
                <a:solidFill>
                  <a:srgbClr val="404040"/>
                </a:solidFill>
              </a:rPr>
              <a:t> – </a:t>
            </a:r>
            <a:r>
              <a:rPr lang="hy-AM" sz="1200" dirty="0">
                <a:solidFill>
                  <a:srgbClr val="404040"/>
                </a:solidFill>
              </a:rPr>
              <a:t>յուրաքանչյուր ծառի համար հատկանիշների պատահական խումբ է ընտրվում, ինչը նվազեցնում է փոխկապակցված հատկանիշների ազդեցությունը։</a:t>
            </a:r>
          </a:p>
          <a:p>
            <a:pPr lvl="1">
              <a:lnSpc>
                <a:spcPct val="90000"/>
              </a:lnSpc>
            </a:pPr>
            <a:r>
              <a:rPr lang="en-US" sz="1200" b="1" dirty="0">
                <a:solidFill>
                  <a:srgbClr val="404040"/>
                </a:solidFill>
              </a:rPr>
              <a:t>Tree Training</a:t>
            </a:r>
            <a:r>
              <a:rPr lang="en-US" sz="1200" dirty="0">
                <a:solidFill>
                  <a:srgbClr val="404040"/>
                </a:solidFill>
              </a:rPr>
              <a:t> – Decision Tree–</a:t>
            </a:r>
            <a:r>
              <a:rPr lang="hy-AM" sz="1200" dirty="0">
                <a:solidFill>
                  <a:srgbClr val="404040"/>
                </a:solidFill>
              </a:rPr>
              <a:t>երը սովորում են անկախ միմյանցից՝ օգտագործելով </a:t>
            </a:r>
            <a:r>
              <a:rPr lang="en-US" sz="1200" dirty="0">
                <a:solidFill>
                  <a:srgbClr val="404040"/>
                </a:solidFill>
              </a:rPr>
              <a:t>Gini/Entropy </a:t>
            </a:r>
            <a:r>
              <a:rPr lang="hy-AM" sz="1200" dirty="0">
                <a:solidFill>
                  <a:srgbClr val="404040"/>
                </a:solidFill>
              </a:rPr>
              <a:t>չափորոշիչները մեկից ավելի բաժանումների համար։</a:t>
            </a:r>
          </a:p>
          <a:p>
            <a:pPr lvl="1">
              <a:lnSpc>
                <a:spcPct val="90000"/>
              </a:lnSpc>
            </a:pPr>
            <a:r>
              <a:rPr lang="en-US" sz="1200" b="1" dirty="0">
                <a:solidFill>
                  <a:srgbClr val="404040"/>
                </a:solidFill>
              </a:rPr>
              <a:t>Majority Voting (Classification)</a:t>
            </a:r>
            <a:r>
              <a:rPr lang="en-US" sz="1200" dirty="0">
                <a:solidFill>
                  <a:srgbClr val="404040"/>
                </a:solidFill>
              </a:rPr>
              <a:t> – </a:t>
            </a:r>
            <a:r>
              <a:rPr lang="hy-AM" sz="1200" dirty="0">
                <a:solidFill>
                  <a:srgbClr val="404040"/>
                </a:solidFill>
              </a:rPr>
              <a:t>կանխատեսման փուլում բոլոր ծառերը «քվեարկում են», և վերջնական դասը որոշվում է մեծամասնությամբ։</a:t>
            </a:r>
          </a:p>
          <a:p>
            <a:pPr>
              <a:lnSpc>
                <a:spcPct val="90000"/>
              </a:lnSpc>
            </a:pPr>
            <a:endParaRPr lang="hy-AM" sz="11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94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9144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428750"/>
            <a:ext cx="2876550" cy="3943350"/>
          </a:xfrm>
          <a:ln w="28575"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000" b="1" dirty="0"/>
              <a:t>ՊԱՏԱՀԱԿԱՆ ԱՆՏԱՌ – ԱՌԱՎԵԼՈՒԹՅՈՒՆՆԵՐ և ԹԵՐՈՒԹՅՈՒՆՆԵՐ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640080"/>
            <a:ext cx="5173218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15309" y="802767"/>
            <a:ext cx="4924044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6D761C-EAFE-8207-5B5D-D4183672E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716544"/>
              </p:ext>
            </p:extLst>
          </p:nvPr>
        </p:nvGraphicFramePr>
        <p:xfrm>
          <a:off x="3686175" y="802767"/>
          <a:ext cx="4853178" cy="4937761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426589">
                  <a:extLst>
                    <a:ext uri="{9D8B030D-6E8A-4147-A177-3AD203B41FA5}">
                      <a16:colId xmlns:a16="http://schemas.microsoft.com/office/drawing/2014/main" val="3573634204"/>
                    </a:ext>
                  </a:extLst>
                </a:gridCol>
                <a:gridCol w="2426589">
                  <a:extLst>
                    <a:ext uri="{9D8B030D-6E8A-4147-A177-3AD203B41FA5}">
                      <a16:colId xmlns:a16="http://schemas.microsoft.com/office/drawing/2014/main" val="1172683118"/>
                    </a:ext>
                  </a:extLst>
                </a:gridCol>
              </a:tblGrid>
              <a:tr h="307084"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 err="1">
                          <a:effectLst/>
                          <a:highlight>
                            <a:srgbClr val="00FF00"/>
                          </a:highlight>
                        </a:rPr>
                        <a:t>Առավելություններ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>
                          <a:effectLst/>
                          <a:highlight>
                            <a:srgbClr val="FF0000"/>
                          </a:highlight>
                        </a:rPr>
                        <a:t>Թերություններ</a:t>
                      </a:r>
                      <a:endParaRPr lang="en-US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extLst>
                  <a:ext uri="{0D108BD9-81ED-4DB2-BD59-A6C34878D82A}">
                    <a16:rowId xmlns:a16="http://schemas.microsoft.com/office/drawing/2014/main" val="2812142108"/>
                  </a:ext>
                </a:extLst>
              </a:tr>
              <a:tr h="716027"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Հեշտ</a:t>
                      </a:r>
                      <a:r>
                        <a:rPr lang="en-US" sz="1050" kern="100" dirty="0">
                          <a:effectLst/>
                        </a:rPr>
                        <a:t> է </a:t>
                      </a:r>
                      <a:r>
                        <a:rPr lang="en-US" sz="1050" kern="100" dirty="0" err="1">
                          <a:effectLst/>
                        </a:rPr>
                        <a:t>հասկանալ</a:t>
                      </a:r>
                      <a:r>
                        <a:rPr lang="en-US" sz="1050" kern="100" dirty="0">
                          <a:effectLst/>
                        </a:rPr>
                        <a:t> և </a:t>
                      </a:r>
                      <a:r>
                        <a:rPr lang="en-US" sz="1050" kern="100" dirty="0" err="1">
                          <a:effectLst/>
                        </a:rPr>
                        <a:t>վիզուալ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ներկայացնել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Overfitting </a:t>
                      </a:r>
                      <a:r>
                        <a:rPr lang="en-US" sz="1050" kern="100" dirty="0" err="1">
                          <a:effectLst/>
                        </a:rPr>
                        <a:t>ռիսկ</a:t>
                      </a:r>
                      <a:r>
                        <a:rPr lang="en-US" sz="1050" kern="100" dirty="0">
                          <a:effectLst/>
                        </a:rPr>
                        <a:t> Decision Tree-ի </a:t>
                      </a:r>
                      <a:r>
                        <a:rPr lang="en-US" sz="1050" kern="100" dirty="0" err="1">
                          <a:effectLst/>
                        </a:rPr>
                        <a:t>դեպքում</a:t>
                      </a:r>
                      <a:r>
                        <a:rPr lang="en-US" sz="1050" kern="100" dirty="0">
                          <a:effectLst/>
                        </a:rPr>
                        <a:t>, </a:t>
                      </a:r>
                      <a:r>
                        <a:rPr lang="en-US" sz="1050" kern="100" dirty="0" err="1">
                          <a:effectLst/>
                        </a:rPr>
                        <a:t>եթե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ծառը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շատ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խորանայի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extLst>
                  <a:ext uri="{0D108BD9-81ED-4DB2-BD59-A6C34878D82A}">
                    <a16:rowId xmlns:a16="http://schemas.microsoft.com/office/drawing/2014/main" val="2791169613"/>
                  </a:ext>
                </a:extLst>
              </a:tr>
              <a:tr h="1178007"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Չի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պահանջում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շատ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նախնական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տվյալների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մշակում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Փոքր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փոփոխությունը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տվյալներում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կարող</a:t>
                      </a:r>
                      <a:r>
                        <a:rPr lang="en-US" sz="1050" kern="100" dirty="0">
                          <a:effectLst/>
                        </a:rPr>
                        <a:t> է </a:t>
                      </a:r>
                      <a:r>
                        <a:rPr lang="en-US" sz="1050" kern="100" dirty="0" err="1">
                          <a:effectLst/>
                        </a:rPr>
                        <a:t>մեծ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ազդեցություն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ունենալ</a:t>
                      </a:r>
                      <a:r>
                        <a:rPr lang="en-US" sz="1050" kern="100" dirty="0">
                          <a:effectLst/>
                        </a:rPr>
                        <a:t> Decision Tree-ի </a:t>
                      </a:r>
                      <a:r>
                        <a:rPr lang="en-US" sz="1050" kern="100" dirty="0" err="1">
                          <a:effectLst/>
                        </a:rPr>
                        <a:t>կառուցվածքում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extLst>
                  <a:ext uri="{0D108BD9-81ED-4DB2-BD59-A6C34878D82A}">
                    <a16:rowId xmlns:a16="http://schemas.microsoft.com/office/drawing/2014/main" val="597372538"/>
                  </a:ext>
                </a:extLst>
              </a:tr>
              <a:tr h="1178007"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Աշխատում է թե՛ քանակական, թե՛ որակական հատկանիշների հետ</a:t>
                      </a:r>
                      <a:endParaRPr lang="en-US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Բարդ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խնդիրներում</a:t>
                      </a:r>
                      <a:r>
                        <a:rPr lang="en-US" sz="1050" kern="100" dirty="0">
                          <a:effectLst/>
                        </a:rPr>
                        <a:t> Decision Tree-</a:t>
                      </a:r>
                      <a:r>
                        <a:rPr lang="en-US" sz="1050" kern="100" dirty="0" err="1">
                          <a:effectLst/>
                        </a:rPr>
                        <a:t>երը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ավելի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քիչ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արդյունավետ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են</a:t>
                      </a:r>
                      <a:r>
                        <a:rPr lang="en-US" sz="1050" kern="100" dirty="0">
                          <a:effectLst/>
                        </a:rPr>
                        <a:t>, </a:t>
                      </a:r>
                      <a:r>
                        <a:rPr lang="en-US" sz="1050" kern="100" dirty="0" err="1">
                          <a:effectLst/>
                        </a:rPr>
                        <a:t>քան</a:t>
                      </a:r>
                      <a:r>
                        <a:rPr lang="en-US" sz="1050" kern="100" dirty="0">
                          <a:effectLst/>
                        </a:rPr>
                        <a:t> ensemble </a:t>
                      </a:r>
                      <a:r>
                        <a:rPr lang="en-US" sz="1050" kern="100" dirty="0" err="1">
                          <a:effectLst/>
                        </a:rPr>
                        <a:t>մեթոդները</a:t>
                      </a:r>
                      <a:r>
                        <a:rPr lang="en-US" sz="1050" kern="100" dirty="0">
                          <a:effectLst/>
                        </a:rPr>
                        <a:t> (Random Forest, Gradient Boosting)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extLst>
                  <a:ext uri="{0D108BD9-81ED-4DB2-BD59-A6C34878D82A}">
                    <a16:rowId xmlns:a16="http://schemas.microsoft.com/office/drawing/2014/main" val="2651201460"/>
                  </a:ext>
                </a:extLst>
              </a:tr>
              <a:tr h="961243"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>
                          <a:effectLst/>
                        </a:rPr>
                        <a:t>Random Forest-ի միջոցով նվազեցնում է overfitting ռիսկը</a:t>
                      </a:r>
                      <a:endParaRPr lang="en-US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Random Forest-ի </a:t>
                      </a:r>
                      <a:r>
                        <a:rPr lang="en-US" sz="1050" kern="100" dirty="0" err="1">
                          <a:effectLst/>
                        </a:rPr>
                        <a:t>հաշվարկային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պահանջները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ավելի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բարձր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են</a:t>
                      </a:r>
                      <a:r>
                        <a:rPr lang="en-US" sz="1050" kern="100" dirty="0">
                          <a:effectLst/>
                        </a:rPr>
                        <a:t>, </a:t>
                      </a:r>
                      <a:r>
                        <a:rPr lang="en-US" sz="1050" kern="100" dirty="0" err="1">
                          <a:effectLst/>
                        </a:rPr>
                        <a:t>քան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մեկ</a:t>
                      </a:r>
                      <a:r>
                        <a:rPr lang="en-US" sz="1050" kern="100" dirty="0">
                          <a:effectLst/>
                        </a:rPr>
                        <a:t> Decision Tree-ի </a:t>
                      </a:r>
                      <a:r>
                        <a:rPr lang="en-US" sz="1050" kern="100" dirty="0" err="1">
                          <a:effectLst/>
                        </a:rPr>
                        <a:t>դեպքում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extLst>
                  <a:ext uri="{0D108BD9-81ED-4DB2-BD59-A6C34878D82A}">
                    <a16:rowId xmlns:a16="http://schemas.microsoft.com/office/drawing/2014/main" val="2218785944"/>
                  </a:ext>
                </a:extLst>
              </a:tr>
              <a:tr h="597393">
                <a:tc>
                  <a:txBody>
                    <a:bodyPr/>
                    <a:lstStyle/>
                    <a:p>
                      <a:pPr indent="28829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Բարձր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ճշգրտություն</a:t>
                      </a:r>
                      <a:r>
                        <a:rPr lang="en-US" sz="1050" kern="100" dirty="0">
                          <a:effectLst/>
                        </a:rPr>
                        <a:t> և </a:t>
                      </a:r>
                      <a:r>
                        <a:rPr lang="en-US" sz="1050" kern="100" dirty="0" err="1">
                          <a:effectLst/>
                        </a:rPr>
                        <a:t>լավ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en-US" sz="1050" kern="100" dirty="0" err="1">
                          <a:effectLst/>
                        </a:rPr>
                        <a:t>ընդհանրացում</a:t>
                      </a:r>
                      <a:endParaRPr lang="en-US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/>
                </a:tc>
                <a:tc>
                  <a:txBody>
                    <a:bodyPr/>
                    <a:lstStyle/>
                    <a:p>
                      <a:pPr indent="288290" algn="l">
                        <a:buNone/>
                      </a:pPr>
                      <a:endParaRPr lang="en-US" sz="105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6168" marR="46168" marT="0" marB="0"/>
                </a:tc>
                <a:extLst>
                  <a:ext uri="{0D108BD9-81ED-4DB2-BD59-A6C34878D82A}">
                    <a16:rowId xmlns:a16="http://schemas.microsoft.com/office/drawing/2014/main" val="40857251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E7EAB-E385-A360-746A-77CBC53D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ACA9D-7104-0D52-BEE7-7866F68C4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hy-AM" b="1" dirty="0"/>
              <a:t>Գնահատման</a:t>
            </a:r>
            <a:r>
              <a:rPr b="1" dirty="0"/>
              <a:t> </a:t>
            </a:r>
            <a:r>
              <a:rPr b="1" dirty="0" err="1"/>
              <a:t>չափանիշներ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708B-43C7-A235-170A-65C034E6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546" y="1733549"/>
            <a:ext cx="6584634" cy="376237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hy-AM" sz="1600" dirty="0">
                <a:solidFill>
                  <a:srgbClr val="404040"/>
                </a:solidFill>
              </a:rPr>
              <a:t>Մեքենայական ուսուցման մոդելների արդյունավետությունը գնահատելու համար կիրառվում են տարբեր չափանիշներ, որոնք թույլ են տալիս հասկանալ մոդելի ճշգրտությունը։ Դասակարգման խնդիրներում առավել հաճախ օգտագործվում են հետևյալ չափանիշները՝</a:t>
            </a:r>
          </a:p>
          <a:p>
            <a:pPr lvl="0">
              <a:lnSpc>
                <a:spcPct val="90000"/>
              </a:lnSpc>
            </a:pPr>
            <a:r>
              <a:rPr lang="en-US" sz="1600" b="1" dirty="0">
                <a:solidFill>
                  <a:srgbClr val="404040"/>
                </a:solidFill>
              </a:rPr>
              <a:t>Accuracy</a:t>
            </a:r>
            <a:r>
              <a:rPr lang="en-US" sz="1600" dirty="0">
                <a:solidFill>
                  <a:srgbClr val="404040"/>
                </a:solidFill>
              </a:rPr>
              <a:t> </a:t>
            </a:r>
            <a:r>
              <a:rPr lang="en-US" sz="1600" b="1" dirty="0">
                <a:solidFill>
                  <a:srgbClr val="404040"/>
                </a:solidFill>
              </a:rPr>
              <a:t>(</a:t>
            </a:r>
            <a:r>
              <a:rPr lang="hy-AM" sz="1600" b="1" dirty="0">
                <a:solidFill>
                  <a:srgbClr val="404040"/>
                </a:solidFill>
              </a:rPr>
              <a:t>ճշգրտություն) </a:t>
            </a:r>
            <a:r>
              <a:rPr lang="hy-AM" sz="1600" dirty="0">
                <a:solidFill>
                  <a:srgbClr val="404040"/>
                </a:solidFill>
              </a:rPr>
              <a:t>– ցույց է տալիս, թե մոդելի կողմից արված կանխատեսումների քանի տոկոսն է ճիշտ։</a:t>
            </a:r>
          </a:p>
          <a:p>
            <a:pPr lvl="0">
              <a:lnSpc>
                <a:spcPct val="90000"/>
              </a:lnSpc>
            </a:pPr>
            <a:r>
              <a:rPr lang="en-US" sz="1600" b="1" dirty="0">
                <a:solidFill>
                  <a:srgbClr val="404040"/>
                </a:solidFill>
              </a:rPr>
              <a:t>Precision (</a:t>
            </a:r>
            <a:r>
              <a:rPr lang="hy-AM" sz="1600" b="1" dirty="0">
                <a:solidFill>
                  <a:srgbClr val="404040"/>
                </a:solidFill>
              </a:rPr>
              <a:t>ճշտություն)</a:t>
            </a:r>
            <a:r>
              <a:rPr lang="hy-AM" sz="1600" dirty="0">
                <a:solidFill>
                  <a:srgbClr val="404040"/>
                </a:solidFill>
              </a:rPr>
              <a:t> – ցույց է տալիս, թե այն նմուշներից, որոնք մոդելը կանխատեսել է որպես դրական (օր.՝ “չարորակ”), քանի տոկոսն է իրականում դրական։</a:t>
            </a:r>
          </a:p>
          <a:p>
            <a:pPr lvl="0">
              <a:lnSpc>
                <a:spcPct val="90000"/>
              </a:lnSpc>
            </a:pPr>
            <a:r>
              <a:rPr lang="en-US" sz="1600" b="1" dirty="0">
                <a:solidFill>
                  <a:srgbClr val="404040"/>
                </a:solidFill>
              </a:rPr>
              <a:t>Recall (</a:t>
            </a:r>
            <a:r>
              <a:rPr lang="hy-AM" sz="1600" b="1" dirty="0">
                <a:solidFill>
                  <a:srgbClr val="404040"/>
                </a:solidFill>
              </a:rPr>
              <a:t>զգայունություն)</a:t>
            </a:r>
            <a:r>
              <a:rPr lang="hy-AM" sz="1600" dirty="0">
                <a:solidFill>
                  <a:srgbClr val="404040"/>
                </a:solidFill>
              </a:rPr>
              <a:t> – ցույց է տալիս, թե իրական դրական դեպքերից քանիսն է մոդելը ճիշտ հայտնաբերել։</a:t>
            </a:r>
          </a:p>
          <a:p>
            <a:pPr lvl="0">
              <a:lnSpc>
                <a:spcPct val="90000"/>
              </a:lnSpc>
            </a:pPr>
            <a:r>
              <a:rPr lang="en-US" sz="1600" b="1" dirty="0">
                <a:solidFill>
                  <a:srgbClr val="404040"/>
                </a:solidFill>
              </a:rPr>
              <a:t>F1-score (</a:t>
            </a:r>
            <a:r>
              <a:rPr lang="hy-AM" sz="1600" b="1" dirty="0">
                <a:solidFill>
                  <a:srgbClr val="404040"/>
                </a:solidFill>
              </a:rPr>
              <a:t>համակցված գնահատում)</a:t>
            </a:r>
            <a:r>
              <a:rPr lang="hy-AM" sz="1600" dirty="0">
                <a:solidFill>
                  <a:srgbClr val="404040"/>
                </a:solidFill>
              </a:rPr>
              <a:t> – հանդիսանում է </a:t>
            </a:r>
            <a:r>
              <a:rPr lang="en-US" sz="1600" dirty="0">
                <a:solidFill>
                  <a:srgbClr val="404040"/>
                </a:solidFill>
              </a:rPr>
              <a:t>Precision-</a:t>
            </a:r>
            <a:r>
              <a:rPr lang="hy-AM" sz="1600" dirty="0">
                <a:solidFill>
                  <a:srgbClr val="404040"/>
                </a:solidFill>
              </a:rPr>
              <a:t>ի և </a:t>
            </a:r>
            <a:r>
              <a:rPr lang="en-US" sz="1600" dirty="0">
                <a:solidFill>
                  <a:srgbClr val="404040"/>
                </a:solidFill>
              </a:rPr>
              <a:t>Recall-</a:t>
            </a:r>
            <a:r>
              <a:rPr lang="hy-AM" sz="1600" dirty="0">
                <a:solidFill>
                  <a:srgbClr val="404040"/>
                </a:solidFill>
              </a:rPr>
              <a:t>ի համակցությունը և օգտագործվում է, երբ անհրաժեշտ է հավասարակշռել երկու ցուցանիշները։</a:t>
            </a:r>
          </a:p>
          <a:p>
            <a:pPr>
              <a:lnSpc>
                <a:spcPct val="90000"/>
              </a:lnSpc>
            </a:pPr>
            <a:endParaRPr lang="hy-AM" sz="11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endParaRPr lang="hy-AM" sz="11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001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FE3CD-0081-5DB3-CCA9-87AF1F13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DF7D-EA96-1320-E36A-BAB89F17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hy-AM" sz="2100" b="1" dirty="0">
                <a:solidFill>
                  <a:schemeClr val="tx1"/>
                </a:solidFill>
              </a:rPr>
              <a:t>Տվյալների Աղբյուր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BD375-799A-B38E-40D5-AF2E94240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6886" y="295275"/>
            <a:ext cx="4056522" cy="63055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y-AM" sz="1500" dirty="0">
                <a:solidFill>
                  <a:schemeClr val="bg1"/>
                </a:solidFill>
              </a:rPr>
              <a:t>• Այս աշխատանքում կիրառվել է </a:t>
            </a:r>
            <a:r>
              <a:rPr lang="en-US" sz="1500" b="1" dirty="0">
                <a:solidFill>
                  <a:schemeClr val="bg1"/>
                </a:solidFill>
              </a:rPr>
              <a:t>Breast Cancer Wisconsin (Diagnostic)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hy-AM" sz="1500" dirty="0">
                <a:solidFill>
                  <a:schemeClr val="bg1"/>
                </a:solidFill>
              </a:rPr>
              <a:t>տվյալների հավաքածուն, որը բաղկացած է՝</a:t>
            </a:r>
          </a:p>
          <a:p>
            <a:pPr lvl="1">
              <a:lnSpc>
                <a:spcPct val="90000"/>
              </a:lnSpc>
            </a:pPr>
            <a:r>
              <a:rPr lang="hy-AM" sz="1500" b="1" dirty="0">
                <a:solidFill>
                  <a:schemeClr val="bg1"/>
                </a:solidFill>
              </a:rPr>
              <a:t>569 պացիենտի նմուշներից</a:t>
            </a:r>
            <a:endParaRPr lang="hy-AM" sz="15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hy-AM" sz="1500" b="1" dirty="0">
                <a:solidFill>
                  <a:schemeClr val="bg1"/>
                </a:solidFill>
              </a:rPr>
              <a:t>30 քանակական հատկանիշներից</a:t>
            </a:r>
            <a:r>
              <a:rPr lang="hy-AM" sz="1500" dirty="0">
                <a:solidFill>
                  <a:schemeClr val="bg1"/>
                </a:solidFill>
              </a:rPr>
              <a:t>, որոնք ստացվել են բարակ ասեղային ասպիրացիայի (</a:t>
            </a:r>
            <a:r>
              <a:rPr lang="en-US" sz="1500" dirty="0">
                <a:solidFill>
                  <a:schemeClr val="bg1"/>
                </a:solidFill>
              </a:rPr>
              <a:t>FNA) </a:t>
            </a:r>
            <a:r>
              <a:rPr lang="hy-AM" sz="1500" dirty="0">
                <a:solidFill>
                  <a:schemeClr val="bg1"/>
                </a:solidFill>
              </a:rPr>
              <a:t>միջոցով</a:t>
            </a:r>
          </a:p>
          <a:p>
            <a:pPr>
              <a:lnSpc>
                <a:spcPct val="90000"/>
              </a:lnSpc>
            </a:pPr>
            <a:r>
              <a:rPr lang="hy-AM" sz="1500" dirty="0">
                <a:solidFill>
                  <a:schemeClr val="bg1"/>
                </a:solidFill>
              </a:rPr>
              <a:t>Հատկանիշները նկարագրում են բջջային կորիզների ձևաբանական հատկությունները՝ շառավիղ, պարագիծ, մակերես, հյուսվածք, գոգավորություն և այլն։</a:t>
            </a:r>
          </a:p>
          <a:p>
            <a:pPr>
              <a:lnSpc>
                <a:spcPct val="90000"/>
              </a:lnSpc>
            </a:pPr>
            <a:r>
              <a:rPr lang="hy-AM" sz="1500" b="1" dirty="0">
                <a:solidFill>
                  <a:schemeClr val="bg1"/>
                </a:solidFill>
              </a:rPr>
              <a:t>Թիրախային պիտակ:</a:t>
            </a:r>
            <a:endParaRPr lang="hy-AM" sz="15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500" b="1" dirty="0">
                <a:solidFill>
                  <a:schemeClr val="bg1"/>
                </a:solidFill>
              </a:rPr>
              <a:t>M – Malignant (</a:t>
            </a:r>
            <a:r>
              <a:rPr lang="hy-AM" sz="1500" b="1" dirty="0">
                <a:solidFill>
                  <a:schemeClr val="bg1"/>
                </a:solidFill>
              </a:rPr>
              <a:t>Չարորակ)</a:t>
            </a:r>
            <a:endParaRPr lang="hy-AM" sz="15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500" b="1" dirty="0">
                <a:solidFill>
                  <a:schemeClr val="bg1"/>
                </a:solidFill>
              </a:rPr>
              <a:t>B – Benign (</a:t>
            </a:r>
            <a:r>
              <a:rPr lang="hy-AM" sz="1500" b="1" dirty="0">
                <a:solidFill>
                  <a:schemeClr val="bg1"/>
                </a:solidFill>
              </a:rPr>
              <a:t>Բարորակ)</a:t>
            </a:r>
            <a:endParaRPr lang="hy-AM" sz="15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hy-AM" sz="1500" dirty="0">
                <a:solidFill>
                  <a:schemeClr val="bg1"/>
                </a:solidFill>
              </a:rPr>
              <a:t>Տվյալների բազմազանությունը և բարձր չափայնությունը այս հավաքածուն դարձնում են հարմար միջավայր բժշկական </a:t>
            </a:r>
            <a:r>
              <a:rPr lang="en-US" sz="1500" dirty="0">
                <a:solidFill>
                  <a:schemeClr val="bg1"/>
                </a:solidFill>
              </a:rPr>
              <a:t>ML </a:t>
            </a:r>
            <a:r>
              <a:rPr lang="hy-AM" sz="1500" dirty="0">
                <a:solidFill>
                  <a:schemeClr val="bg1"/>
                </a:solidFill>
              </a:rPr>
              <a:t>մոդելներ մշակելու համար։</a:t>
            </a:r>
          </a:p>
        </p:txBody>
      </p:sp>
    </p:spTree>
    <p:extLst>
      <p:ext uri="{BB962C8B-B14F-4D97-AF65-F5344CB8AC3E}">
        <p14:creationId xmlns:p14="http://schemas.microsoft.com/office/powerpoint/2010/main" val="114283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4D6F0-6EFD-78DA-AEE8-974D2B37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BE8E8-BFED-2B65-48EE-F0760B68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hy-AM" b="1" dirty="0"/>
              <a:t>Տվյալների հավաքածոի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D5201-9B9A-0808-24E8-1E4C4D9E946F}"/>
              </a:ext>
            </a:extLst>
          </p:cNvPr>
          <p:cNvSpPr txBox="1"/>
          <p:nvPr/>
        </p:nvSpPr>
        <p:spPr>
          <a:xfrm>
            <a:off x="975933" y="2207046"/>
            <a:ext cx="25067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400" dirty="0"/>
              <a:t>Յուրաքանչյուր հատկանիշ հաշվարկված է միջուկների համար և ներառում է՝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y-AM" sz="1400" dirty="0"/>
              <a:t>mean (միջին արժեք),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y-AM" sz="1400" dirty="0"/>
              <a:t>standard error (ստանդարտ շեղում),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y-AM" sz="1400" dirty="0"/>
              <a:t>worst (մեծագույն) արժեքներ: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y-AM" sz="1400" dirty="0"/>
          </a:p>
          <a:p>
            <a:pPr lvl="0"/>
            <a:r>
              <a:rPr lang="hy-AM" sz="1400" dirty="0"/>
              <a:t>Հիմնական հատկանիշները ներկայացված են աղյուսակում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F5F244-69FC-5344-234D-3AADB758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723" y="1831086"/>
            <a:ext cx="4724018" cy="38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8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593" y="2708804"/>
            <a:ext cx="3068908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hy-AM" sz="1800" b="1" dirty="0">
                <a:solidFill>
                  <a:schemeClr val="tx1"/>
                </a:solidFill>
              </a:rPr>
              <a:t>Տվյալների Մաքրում և Նախապատրաստում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y-AM" sz="1500" dirty="0">
                <a:solidFill>
                  <a:schemeClr val="bg1"/>
                </a:solidFill>
              </a:rPr>
              <a:t>Տվյալների մաքրումը և նախապատրաստումը հանդիսանում է կարևոր փուլ մեքենայական ուսուցման մոդելի կառուցման գործընթացում, քանի որ այն ապահովում է տվյալների ամբողջականություն և համապատասխան ձևաչափ, որպեսզի մոդելը կարողանա արդյունավետ աշխատել:</a:t>
            </a:r>
          </a:p>
          <a:p>
            <a:pPr>
              <a:lnSpc>
                <a:spcPct val="90000"/>
              </a:lnSpc>
            </a:pPr>
            <a:endParaRPr lang="hy-AM" sz="15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hy-AM" sz="1500" dirty="0">
                <a:solidFill>
                  <a:schemeClr val="bg1"/>
                </a:solidFill>
              </a:rPr>
              <a:t>Տվյալների նախնական ուսումնասիրությունը ցույց տվեց, որ՝</a:t>
            </a:r>
          </a:p>
          <a:p>
            <a:pPr>
              <a:lnSpc>
                <a:spcPct val="90000"/>
              </a:lnSpc>
            </a:pPr>
            <a:r>
              <a:rPr lang="hy-AM" sz="1500" b="1" dirty="0">
                <a:solidFill>
                  <a:schemeClr val="bg1"/>
                </a:solidFill>
              </a:rPr>
              <a:t>Բացակայող արժեքներ չկան</a:t>
            </a:r>
            <a:r>
              <a:rPr lang="hy-AM" sz="1500" dirty="0">
                <a:solidFill>
                  <a:schemeClr val="bg1"/>
                </a:solidFill>
              </a:rPr>
              <a:t>, տվյալների որակը բավարար է</a:t>
            </a:r>
          </a:p>
          <a:p>
            <a:pPr>
              <a:lnSpc>
                <a:spcPct val="90000"/>
              </a:lnSpc>
            </a:pPr>
            <a:r>
              <a:rPr lang="en-US" sz="1500" b="1" dirty="0">
                <a:solidFill>
                  <a:schemeClr val="bg1"/>
                </a:solidFill>
              </a:rPr>
              <a:t>ID </a:t>
            </a:r>
            <a:r>
              <a:rPr lang="hy-AM" sz="1500" b="1" dirty="0">
                <a:solidFill>
                  <a:schemeClr val="bg1"/>
                </a:solidFill>
              </a:rPr>
              <a:t>սյունը հեռացվել է</a:t>
            </a:r>
            <a:r>
              <a:rPr lang="hy-AM" sz="1500" dirty="0">
                <a:solidFill>
                  <a:schemeClr val="bg1"/>
                </a:solidFill>
              </a:rPr>
              <a:t>, քանի որ այն կանխատեսողական արժեք չի կրում</a:t>
            </a:r>
          </a:p>
          <a:p>
            <a:pPr>
              <a:lnSpc>
                <a:spcPct val="90000"/>
              </a:lnSpc>
            </a:pPr>
            <a:r>
              <a:rPr lang="en-US" sz="1500" b="1" dirty="0">
                <a:solidFill>
                  <a:schemeClr val="bg1"/>
                </a:solidFill>
              </a:rPr>
              <a:t>Diagnosis (M/B)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hy-AM" sz="1500" dirty="0">
                <a:solidFill>
                  <a:schemeClr val="bg1"/>
                </a:solidFill>
              </a:rPr>
              <a:t>պիտակը վերածվել է թվային արժեքների՝</a:t>
            </a:r>
          </a:p>
          <a:p>
            <a:pPr lvl="2">
              <a:lnSpc>
                <a:spcPct val="90000"/>
              </a:lnSpc>
            </a:pPr>
            <a:r>
              <a:rPr lang="en-US" sz="1500" i="1" dirty="0">
                <a:solidFill>
                  <a:schemeClr val="bg1"/>
                </a:solidFill>
              </a:rPr>
              <a:t>M → 1</a:t>
            </a:r>
            <a:endParaRPr lang="en-US" sz="1500" dirty="0">
              <a:solidFill>
                <a:schemeClr val="bg1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1500" i="1" dirty="0">
                <a:solidFill>
                  <a:schemeClr val="bg1"/>
                </a:solidFill>
              </a:rPr>
              <a:t>B → 0</a:t>
            </a: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674" y="0"/>
            <a:ext cx="3324224" cy="68580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hy-AM" sz="14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4077" y="640080"/>
            <a:ext cx="5162304" cy="16249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•  </a:t>
            </a:r>
            <a:r>
              <a:rPr lang="hy-AM" sz="1400" dirty="0"/>
              <a:t>Տվյալների հատկանիշների բաշխման վերլուծությունը թույլ է տալիս հասկանալ, թե ինչպես են տարբեր հատկանիշների արժեքները փոխվում բարորակ և չարորակ դեպքերի միջև։ </a:t>
            </a:r>
          </a:p>
          <a:p>
            <a:pPr>
              <a:lnSpc>
                <a:spcPct val="90000"/>
              </a:lnSpc>
            </a:pPr>
            <a:r>
              <a:rPr lang="hy-AM" sz="1400" dirty="0"/>
              <a:t>Այս վերլուծության նպատակն է հասկանալ, թե ինչպես են հատկանիշների արժեքները տարբերվում բարորակ (</a:t>
            </a:r>
            <a:r>
              <a:rPr lang="en-US" sz="1400" dirty="0"/>
              <a:t>B) </a:t>
            </a:r>
            <a:r>
              <a:rPr lang="hy-AM" sz="1400" dirty="0"/>
              <a:t>և չարորակ (</a:t>
            </a:r>
            <a:r>
              <a:rPr lang="en-US" sz="1400" dirty="0"/>
              <a:t>M) </a:t>
            </a:r>
            <a:r>
              <a:rPr lang="hy-AM" sz="1400" dirty="0"/>
              <a:t>ուռուցքներում։</a:t>
            </a:r>
          </a:p>
          <a:p>
            <a:pPr>
              <a:lnSpc>
                <a:spcPct val="90000"/>
              </a:lnSpc>
            </a:pPr>
            <a:endParaRPr lang="hy-AM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49FE7-9382-4766-343C-CB2E5F35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77" y="2826613"/>
            <a:ext cx="5162303" cy="2826361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52B5A3-7934-AD37-C366-18CB29DDACA1}"/>
              </a:ext>
            </a:extLst>
          </p:cNvPr>
          <p:cNvSpPr txBox="1"/>
          <p:nvPr/>
        </p:nvSpPr>
        <p:spPr>
          <a:xfrm>
            <a:off x="343586" y="3105834"/>
            <a:ext cx="2503704" cy="64633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hy-AM" b="1" dirty="0">
                <a:solidFill>
                  <a:schemeClr val="bg1"/>
                </a:solidFill>
              </a:rPr>
              <a:t>ԲԱՇԽՄԱՆ ՎԵՐԼՈՒԾՈՒԹՅՈՒՆ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12F6-23D4-409A-4EF0-F633CAC2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4D81-C4DD-1362-D258-A11FB225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674" y="0"/>
            <a:ext cx="3324224" cy="68580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hy-AM" sz="1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3E5D9-A6F9-4EF1-FF4E-C35F61594F3B}"/>
              </a:ext>
            </a:extLst>
          </p:cNvPr>
          <p:cNvSpPr txBox="1"/>
          <p:nvPr/>
        </p:nvSpPr>
        <p:spPr>
          <a:xfrm>
            <a:off x="343586" y="3136612"/>
            <a:ext cx="2503704" cy="5847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hy-AM" sz="1600" b="1" dirty="0">
                <a:solidFill>
                  <a:schemeClr val="bg1"/>
                </a:solidFill>
              </a:rPr>
              <a:t>ԿՈՐԵԼԱՑԻՈՆ ՎԵՐԼՈՒԾՈՒԹՅՈՒՆ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1B6DC-F043-310F-6963-7A5C7ECCF9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5" y="3819525"/>
            <a:ext cx="5617845" cy="28091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C08C7DA-EE0B-8239-2DD0-994D17DD8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30071" y="339428"/>
                <a:ext cx="5617846" cy="3101983"/>
              </a:xfrm>
            </p:spPr>
            <p:txBody>
              <a:bodyPr/>
              <a:lstStyle/>
              <a:p>
                <a:r>
                  <a:rPr lang="en-US" sz="1400" dirty="0" err="1"/>
                  <a:t>Կորելացիոն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վերլուծությունը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կիրառվում</a:t>
                </a:r>
                <a:r>
                  <a:rPr lang="en-US" sz="1400" dirty="0"/>
                  <a:t> է՝ </a:t>
                </a:r>
                <a:r>
                  <a:rPr lang="en-US" sz="1400" dirty="0" err="1"/>
                  <a:t>հասկանալու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համար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թե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ինչպես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են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տարբեր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հատկանիշները</a:t>
                </a:r>
                <a:r>
                  <a:rPr lang="en-US" sz="1400" dirty="0"/>
                  <a:t> </a:t>
                </a:r>
                <a:r>
                  <a:rPr lang="en-US" sz="1400" dirty="0" err="1"/>
                  <a:t>փոխկապակցված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միմյանց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հետ</a:t>
                </a:r>
                <a:r>
                  <a:rPr lang="en-US" sz="1400" dirty="0"/>
                  <a:t>։ </a:t>
                </a:r>
                <a:r>
                  <a:rPr lang="en-US" sz="1400" dirty="0" err="1"/>
                  <a:t>Բարձր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կորելացիայով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հատկանիշները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կարող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են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ավելորդ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տեղեկատվություն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պարունակել</a:t>
                </a:r>
                <a:r>
                  <a:rPr lang="en-US" sz="1400" dirty="0"/>
                  <a:t> և </a:t>
                </a:r>
                <a:r>
                  <a:rPr lang="en-US" sz="1400" dirty="0" err="1"/>
                  <a:t>բացասաբար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ազդել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մոդելի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արդյունավետության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վրա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ուստի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անհրաժեշտ</a:t>
                </a:r>
                <a:r>
                  <a:rPr lang="en-US" sz="1400" dirty="0"/>
                  <a:t> է </a:t>
                </a:r>
                <a:r>
                  <a:rPr lang="en-US" sz="1400" dirty="0" err="1"/>
                  <a:t>հայտնաբերել</a:t>
                </a:r>
                <a:r>
                  <a:rPr lang="en-US" sz="1400" dirty="0"/>
                  <a:t> և </a:t>
                </a:r>
                <a:r>
                  <a:rPr lang="en-US" sz="1400" dirty="0" err="1"/>
                  <a:t>հեռացնել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նման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հատկանիշները</a:t>
                </a:r>
                <a:r>
                  <a:rPr lang="en-US" sz="1400" dirty="0"/>
                  <a:t>։</a:t>
                </a:r>
                <a:endParaRPr lang="hy-AM" sz="1400" dirty="0"/>
              </a:p>
              <a:p>
                <a:r>
                  <a:rPr lang="en-US" sz="1400" dirty="0" err="1"/>
                  <a:t>Կորելացիոն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մատրիցան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հաշվարկվել</a:t>
                </a:r>
                <a:r>
                  <a:rPr lang="en-US" sz="1400" dirty="0"/>
                  <a:t> է Pearson-ի </a:t>
                </a:r>
                <a:r>
                  <a:rPr lang="en-US" sz="1400" dirty="0" err="1"/>
                  <a:t>կորելացիայի</a:t>
                </a:r>
                <a:r>
                  <a:rPr lang="en-US" sz="1400" dirty="0"/>
                  <a:t> </a:t>
                </a:r>
                <a:r>
                  <a:rPr lang="en-US" sz="1400" dirty="0" err="1"/>
                  <a:t>միջոցով</a:t>
                </a:r>
                <a:r>
                  <a:rPr lang="hy-AM" sz="1400" dirty="0"/>
                  <a:t>՝</a:t>
                </a:r>
              </a:p>
              <a:p>
                <a:pPr marL="2286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/>
                        <m:t>r</m:t>
                      </m:r>
                      <m:r>
                        <a:rPr lang="en-US" sz="1400" i="1"/>
                        <m:t> = 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i="1"/>
                              </m:ctrlPr>
                            </m:naryPr>
                            <m:sub/>
                            <m:sup/>
                            <m:e/>
                          </m:nary>
                          <m:r>
                            <a:rPr lang="en-US" sz="1400" i="1"/>
                            <m:t> </m:t>
                          </m:r>
                          <m:d>
                            <m:dPr>
                              <m:ctrlPr>
                                <a:rPr lang="en-US" sz="14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/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/>
                                    <m:t>i</m:t>
                                  </m:r>
                                </m:sub>
                              </m:sSub>
                              <m:r>
                                <a:rPr lang="en-US" sz="1400" i="1"/>
                                <m:t> − 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400" i="1"/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/>
                                    <m:t>x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sz="14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/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/>
                                    <m:t>i</m:t>
                                  </m:r>
                                </m:sub>
                              </m:sSub>
                              <m:r>
                                <a:rPr lang="en-US" sz="1400" i="1"/>
                                <m:t> − 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400" i="1"/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/>
                                    <m:t>y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/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/>
                                  </m:ctrlPr>
                                </m:naryPr>
                                <m:sub/>
                                <m:sup/>
                                <m:e/>
                              </m:nary>
                              <m:r>
                                <a:rPr lang="en-US" sz="1400" i="1"/>
                                <m:t> </m:t>
                              </m:r>
                              <m:sSup>
                                <m:sSupPr>
                                  <m:ctrlPr>
                                    <a:rPr lang="en-US" sz="1400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/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/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sz="1400" i="1"/>
                                        <m:t> − 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400" i="1"/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/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400" i="1"/>
                                    <m:t>2</m:t>
                                  </m:r>
                                </m:sup>
                              </m:sSup>
                              <m:r>
                                <a:rPr lang="en-US" sz="1400" i="1"/>
                                <m:t> 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/>
                                  </m:ctrlPr>
                                </m:naryPr>
                                <m:sub/>
                                <m:sup/>
                                <m:e/>
                              </m:nary>
                              <m:r>
                                <a:rPr lang="en-US" sz="1400" i="1"/>
                                <m:t> </m:t>
                              </m:r>
                              <m:sSup>
                                <m:sSupPr>
                                  <m:ctrlPr>
                                    <a:rPr lang="en-US" sz="1400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/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/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sz="1400" i="1"/>
                                        <m:t> − 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400" i="1"/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/>
                                            <m:t>y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400" i="1"/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C08C7DA-EE0B-8239-2DD0-994D17DD8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0071" y="339428"/>
                <a:ext cx="5617846" cy="3101983"/>
              </a:xfrm>
              <a:blipFill>
                <a:blip r:embed="rId3"/>
                <a:stretch>
                  <a:fillRect l="-108" t="-393" b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813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 err="1"/>
              <a:t>Մեքենայական</a:t>
            </a:r>
            <a:r>
              <a:rPr b="1" dirty="0"/>
              <a:t> </a:t>
            </a:r>
            <a:r>
              <a:rPr b="1" dirty="0" err="1"/>
              <a:t>Իրականացում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009775"/>
            <a:ext cx="6584634" cy="34956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Այս նախագծում </a:t>
            </a:r>
            <a:r>
              <a:rPr lang="en-US" sz="1400" dirty="0">
                <a:solidFill>
                  <a:srgbClr val="404040"/>
                </a:solidFill>
              </a:rPr>
              <a:t>Random Forest </a:t>
            </a:r>
            <a:r>
              <a:rPr lang="hy-AM" sz="1400" dirty="0">
                <a:solidFill>
                  <a:srgbClr val="404040"/>
                </a:solidFill>
              </a:rPr>
              <a:t>ալգորիթմը իրականացվել է </a:t>
            </a:r>
            <a:r>
              <a:rPr lang="hy-AM" sz="1400" b="1" dirty="0">
                <a:solidFill>
                  <a:srgbClr val="404040"/>
                </a:solidFill>
              </a:rPr>
              <a:t>զրոյից</a:t>
            </a:r>
            <a:r>
              <a:rPr lang="hy-AM" sz="1400" dirty="0">
                <a:solidFill>
                  <a:srgbClr val="404040"/>
                </a:solidFill>
              </a:rPr>
              <a:t>՝ առանց </a:t>
            </a:r>
            <a:r>
              <a:rPr lang="en-US" sz="1400" dirty="0" err="1">
                <a:solidFill>
                  <a:srgbClr val="404040"/>
                </a:solidFill>
              </a:rPr>
              <a:t>sklearn</a:t>
            </a:r>
            <a:r>
              <a:rPr lang="en-US" sz="1400" dirty="0">
                <a:solidFill>
                  <a:srgbClr val="404040"/>
                </a:solidFill>
              </a:rPr>
              <a:t>-</a:t>
            </a:r>
            <a:r>
              <a:rPr lang="hy-AM" sz="1400" dirty="0">
                <a:solidFill>
                  <a:srgbClr val="404040"/>
                </a:solidFill>
              </a:rPr>
              <a:t>ի պատրաստ մոդելների, նպատակ ունենալով հասկանալ մոդելի ներքին կառուցվածքը։</a:t>
            </a: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Իրականացված հիմնական բաղադրիչները․</a:t>
            </a:r>
          </a:p>
          <a:p>
            <a:pPr lvl="1">
              <a:lnSpc>
                <a:spcPct val="90000"/>
              </a:lnSpc>
            </a:pPr>
            <a:r>
              <a:rPr lang="en-US" sz="1400" b="1" dirty="0" err="1">
                <a:solidFill>
                  <a:srgbClr val="404040"/>
                </a:solidFill>
              </a:rPr>
              <a:t>DecisionNode</a:t>
            </a:r>
            <a:r>
              <a:rPr lang="en-US" sz="1400" dirty="0">
                <a:solidFill>
                  <a:srgbClr val="404040"/>
                </a:solidFill>
              </a:rPr>
              <a:t> — </a:t>
            </a:r>
            <a:r>
              <a:rPr lang="hy-AM" sz="1400" dirty="0">
                <a:solidFill>
                  <a:srgbClr val="404040"/>
                </a:solidFill>
              </a:rPr>
              <a:t>ծառի հանգույց, որը պարունակում է հատկանիշ, շեմ, ճյուղեր կամ կանխատեսում։</a:t>
            </a:r>
          </a:p>
          <a:p>
            <a:pPr lvl="1">
              <a:lnSpc>
                <a:spcPct val="90000"/>
              </a:lnSpc>
            </a:pPr>
            <a:r>
              <a:rPr lang="en-US" sz="1400" b="1" dirty="0" err="1">
                <a:solidFill>
                  <a:srgbClr val="404040"/>
                </a:solidFill>
              </a:rPr>
              <a:t>MyDecisionTree</a:t>
            </a:r>
            <a:r>
              <a:rPr lang="en-US" sz="1400" dirty="0">
                <a:solidFill>
                  <a:srgbClr val="404040"/>
                </a:solidFill>
              </a:rPr>
              <a:t> — </a:t>
            </a:r>
            <a:r>
              <a:rPr lang="hy-AM" sz="1400" dirty="0">
                <a:solidFill>
                  <a:srgbClr val="404040"/>
                </a:solidFill>
              </a:rPr>
              <a:t>ծառի կառուցում, բաժանումներ, </a:t>
            </a:r>
            <a:r>
              <a:rPr lang="en-US" sz="1400" dirty="0">
                <a:solidFill>
                  <a:srgbClr val="404040"/>
                </a:solidFill>
              </a:rPr>
              <a:t>Gini/Entropy </a:t>
            </a:r>
            <a:r>
              <a:rPr lang="hy-AM" sz="1400" dirty="0">
                <a:solidFill>
                  <a:srgbClr val="404040"/>
                </a:solidFill>
              </a:rPr>
              <a:t>հաշվարկ, </a:t>
            </a:r>
            <a:r>
              <a:rPr lang="en-US" sz="1400" dirty="0">
                <a:solidFill>
                  <a:srgbClr val="404040"/>
                </a:solidFill>
              </a:rPr>
              <a:t>Information Gain, </a:t>
            </a:r>
            <a:r>
              <a:rPr lang="hy-AM" sz="1400" dirty="0">
                <a:solidFill>
                  <a:srgbClr val="404040"/>
                </a:solidFill>
              </a:rPr>
              <a:t>ռեկուրսիվ կառուցում։</a:t>
            </a:r>
          </a:p>
          <a:p>
            <a:pPr lvl="1">
              <a:lnSpc>
                <a:spcPct val="90000"/>
              </a:lnSpc>
            </a:pPr>
            <a:r>
              <a:rPr lang="en-US" sz="1400" b="1" dirty="0" err="1">
                <a:solidFill>
                  <a:srgbClr val="404040"/>
                </a:solidFill>
              </a:rPr>
              <a:t>RandomForest</a:t>
            </a:r>
            <a:r>
              <a:rPr lang="en-US" sz="1400" dirty="0">
                <a:solidFill>
                  <a:srgbClr val="404040"/>
                </a:solidFill>
              </a:rPr>
              <a:t> — </a:t>
            </a:r>
            <a:r>
              <a:rPr lang="hy-AM" sz="1400" dirty="0">
                <a:solidFill>
                  <a:srgbClr val="404040"/>
                </a:solidFill>
              </a:rPr>
              <a:t>ծառերի </a:t>
            </a:r>
            <a:r>
              <a:rPr lang="en-US" sz="1400" dirty="0">
                <a:solidFill>
                  <a:srgbClr val="404040"/>
                </a:solidFill>
              </a:rPr>
              <a:t>bootstrap </a:t>
            </a:r>
            <a:r>
              <a:rPr lang="hy-AM" sz="1400" dirty="0">
                <a:solidFill>
                  <a:srgbClr val="404040"/>
                </a:solidFill>
              </a:rPr>
              <a:t>ուսուցում + մեծամասնության քվեարկություն։</a:t>
            </a: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Մոդելը համալրված է գնահատման ֆունկցիայով (</a:t>
            </a:r>
            <a:r>
              <a:rPr lang="en-US" sz="1400" dirty="0">
                <a:solidFill>
                  <a:srgbClr val="404040"/>
                </a:solidFill>
              </a:rPr>
              <a:t>Evaluate), </a:t>
            </a:r>
            <a:r>
              <a:rPr lang="hy-AM" sz="1400" dirty="0">
                <a:solidFill>
                  <a:srgbClr val="404040"/>
                </a:solidFill>
              </a:rPr>
              <a:t>որը հաշվում է </a:t>
            </a:r>
            <a:r>
              <a:rPr lang="en-US" sz="1400" dirty="0">
                <a:solidFill>
                  <a:srgbClr val="404040"/>
                </a:solidFill>
              </a:rPr>
              <a:t>Accuracy, Precision, Recall, F1-score </a:t>
            </a:r>
            <a:r>
              <a:rPr lang="hy-AM" sz="1400" dirty="0">
                <a:solidFill>
                  <a:srgbClr val="404040"/>
                </a:solidFill>
              </a:rPr>
              <a:t>և կազմում է </a:t>
            </a:r>
            <a:r>
              <a:rPr lang="en-US" sz="1400" dirty="0">
                <a:solidFill>
                  <a:srgbClr val="404040"/>
                </a:solidFill>
              </a:rPr>
              <a:t>Confusion Matrix։</a:t>
            </a: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 err="1"/>
              <a:t>Մոդելի</a:t>
            </a:r>
            <a:r>
              <a:rPr b="1" dirty="0"/>
              <a:t> </a:t>
            </a:r>
            <a:r>
              <a:rPr b="1" dirty="0" err="1"/>
              <a:t>Ուսուցում</a:t>
            </a:r>
            <a:endParaRPr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57275" y="1743075"/>
                <a:ext cx="7029449" cy="375284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hy-AM" sz="1300" dirty="0">
                    <a:solidFill>
                      <a:srgbClr val="404040"/>
                    </a:solidFill>
                  </a:rPr>
                  <a:t>Տվյալների հավաքածուն  նախ մշակվել է և օպտիմիզացվել՝ ստացվել է </a:t>
                </a:r>
                <a:r>
                  <a:rPr lang="hy-AM" sz="1300" b="1" dirty="0">
                    <a:solidFill>
                      <a:srgbClr val="404040"/>
                    </a:solidFill>
                  </a:rPr>
                  <a:t>569 նմուշ, 20 հատկանիշ</a:t>
                </a:r>
                <a:r>
                  <a:rPr lang="hy-AM" sz="1300" dirty="0">
                    <a:solidFill>
                      <a:srgbClr val="404040"/>
                    </a:solidFill>
                  </a:rPr>
                  <a:t>։</a:t>
                </a:r>
                <a:br>
                  <a:rPr lang="hy-AM" sz="1300" dirty="0">
                    <a:solidFill>
                      <a:srgbClr val="404040"/>
                    </a:solidFill>
                  </a:rPr>
                </a:br>
                <a:r>
                  <a:rPr lang="hy-AM" sz="1300" dirty="0">
                    <a:solidFill>
                      <a:srgbClr val="404040"/>
                    </a:solidFill>
                  </a:rPr>
                  <a:t>Տվյալները բաժանվել են 2 մասի՝   </a:t>
                </a:r>
                <a:r>
                  <a:rPr lang="hy-AM" sz="1300" b="1" dirty="0">
                    <a:solidFill>
                      <a:srgbClr val="404040"/>
                    </a:solidFill>
                  </a:rPr>
                  <a:t>80% ուսուցուման,</a:t>
                </a:r>
                <a:r>
                  <a:rPr lang="hy-AM" sz="1300" dirty="0">
                    <a:solidFill>
                      <a:srgbClr val="404040"/>
                    </a:solidFill>
                  </a:rPr>
                  <a:t> </a:t>
                </a:r>
                <a:r>
                  <a:rPr lang="hy-AM" sz="1300" b="1" dirty="0">
                    <a:solidFill>
                      <a:srgbClr val="404040"/>
                    </a:solidFill>
                  </a:rPr>
                  <a:t>20% թեստավորման</a:t>
                </a:r>
                <a:endParaRPr lang="hy-AM" sz="1300" dirty="0">
                  <a:solidFill>
                    <a:srgbClr val="40404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hy-AM" sz="1300" dirty="0">
                    <a:solidFill>
                      <a:srgbClr val="404040"/>
                    </a:solidFill>
                  </a:rPr>
                  <a:t>Ուսուցման մեջ կիրառվել են․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200" b="1" dirty="0">
                    <a:solidFill>
                      <a:srgbClr val="404040"/>
                    </a:solidFill>
                  </a:rPr>
                  <a:t>Bootstrap Sampling</a:t>
                </a:r>
                <a:r>
                  <a:rPr lang="en-US" sz="1200" dirty="0">
                    <a:solidFill>
                      <a:srgbClr val="404040"/>
                    </a:solidFill>
                  </a:rPr>
                  <a:t> — </a:t>
                </a:r>
                <a:r>
                  <a:rPr lang="hy-AM" sz="1200" dirty="0">
                    <a:solidFill>
                      <a:srgbClr val="404040"/>
                    </a:solidFill>
                  </a:rPr>
                  <a:t>յուրաքանչյուր </a:t>
                </a:r>
                <a:r>
                  <a:rPr lang="en-US" sz="1200" dirty="0">
                    <a:solidFill>
                      <a:srgbClr val="404040"/>
                    </a:solidFill>
                  </a:rPr>
                  <a:t>Decision Tree </a:t>
                </a:r>
                <a:r>
                  <a:rPr lang="hy-AM" sz="1200" dirty="0">
                    <a:solidFill>
                      <a:srgbClr val="404040"/>
                    </a:solidFill>
                  </a:rPr>
                  <a:t>ստանում է սեփական պատահական նմուշը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200" b="1" dirty="0">
                    <a:solidFill>
                      <a:srgbClr val="404040"/>
                    </a:solidFill>
                  </a:rPr>
                  <a:t>Feature Subsampling</a:t>
                </a:r>
                <a:r>
                  <a:rPr lang="en-US" sz="1200" dirty="0">
                    <a:solidFill>
                      <a:srgbClr val="404040"/>
                    </a:solidFill>
                  </a:rPr>
                  <a:t> — </a:t>
                </a:r>
                <a:r>
                  <a:rPr lang="hy-AM" sz="1200" dirty="0">
                    <a:solidFill>
                      <a:srgbClr val="404040"/>
                    </a:solidFill>
                  </a:rPr>
                  <a:t>յուրաքանչյուր ծառ օգտագործում է պատհական հատկանիշների ենթաբազմություն որը ընտրում ենք դասական կանոնով </a:t>
                </a:r>
                <a:r>
                  <a:rPr lang="en-US" sz="1200" dirty="0"/>
                  <a:t>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/>
                        </m:ctrlPr>
                      </m:radPr>
                      <m:deg/>
                      <m:e>
                        <m:r>
                          <a:rPr lang="en-US" sz="1200" i="1"/>
                          <m:t>𝑁</m:t>
                        </m:r>
                      </m:e>
                    </m:rad>
                  </m:oMath>
                </a14:m>
                <a:r>
                  <a:rPr lang="hy-AM" sz="1200" dirty="0">
                    <a:solidFill>
                      <a:srgbClr val="404040"/>
                    </a:solidFill>
                  </a:rPr>
                  <a:t>≈ </a:t>
                </a:r>
                <a:r>
                  <a:rPr lang="hy-AM" sz="1200" b="1" dirty="0">
                    <a:solidFill>
                      <a:srgbClr val="404040"/>
                    </a:solidFill>
                  </a:rPr>
                  <a:t>4 հատկանիշ</a:t>
                </a:r>
                <a:r>
                  <a:rPr lang="hy-AM" sz="1200" dirty="0">
                    <a:solidFill>
                      <a:srgbClr val="404040"/>
                    </a:solidFill>
                  </a:rPr>
                  <a:t> (√20) որտեղ </a:t>
                </a:r>
                <a:r>
                  <a:rPr lang="en-US" sz="1200" dirty="0">
                    <a:solidFill>
                      <a:srgbClr val="404040"/>
                    </a:solidFill>
                  </a:rPr>
                  <a:t>N </a:t>
                </a:r>
                <a:r>
                  <a:rPr lang="hy-AM" sz="1200" dirty="0">
                    <a:solidFill>
                      <a:srgbClr val="404040"/>
                    </a:solidFill>
                  </a:rPr>
                  <a:t>– ը հատկանիշների քանակն է։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hy-AM" sz="1200" b="1" dirty="0">
                    <a:solidFill>
                      <a:srgbClr val="404040"/>
                    </a:solidFill>
                  </a:rPr>
                  <a:t>50 </a:t>
                </a:r>
                <a:r>
                  <a:rPr lang="en-US" sz="1200" b="1" dirty="0">
                    <a:solidFill>
                      <a:srgbClr val="404040"/>
                    </a:solidFill>
                  </a:rPr>
                  <a:t>Decision Tree</a:t>
                </a:r>
                <a:r>
                  <a:rPr lang="en-US" sz="1200" dirty="0">
                    <a:solidFill>
                      <a:srgbClr val="404040"/>
                    </a:solidFill>
                  </a:rPr>
                  <a:t>, </a:t>
                </a:r>
                <a:r>
                  <a:rPr lang="hy-AM" sz="1200" dirty="0">
                    <a:solidFill>
                      <a:srgbClr val="404040"/>
                    </a:solidFill>
                  </a:rPr>
                  <a:t>պարամետրերով․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sz="1200" dirty="0" err="1">
                    <a:solidFill>
                      <a:srgbClr val="404040"/>
                    </a:solidFill>
                  </a:rPr>
                  <a:t>max_depth</a:t>
                </a:r>
                <a:r>
                  <a:rPr lang="en-US" sz="1200" dirty="0">
                    <a:solidFill>
                      <a:srgbClr val="404040"/>
                    </a:solidFill>
                  </a:rPr>
                  <a:t> = 5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sz="1200" dirty="0" err="1">
                    <a:solidFill>
                      <a:srgbClr val="404040"/>
                    </a:solidFill>
                  </a:rPr>
                  <a:t>min_samples_split</a:t>
                </a:r>
                <a:r>
                  <a:rPr lang="en-US" sz="1200" dirty="0">
                    <a:solidFill>
                      <a:srgbClr val="404040"/>
                    </a:solidFill>
                  </a:rPr>
                  <a:t> = 5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sz="1200" dirty="0">
                    <a:solidFill>
                      <a:srgbClr val="404040"/>
                    </a:solidFill>
                  </a:rPr>
                  <a:t>criterion = "</a:t>
                </a:r>
                <a:r>
                  <a:rPr lang="en-US" sz="1200" dirty="0" err="1">
                    <a:solidFill>
                      <a:srgbClr val="404040"/>
                    </a:solidFill>
                  </a:rPr>
                  <a:t>gini</a:t>
                </a:r>
                <a:r>
                  <a:rPr lang="en-US" sz="1200" dirty="0">
                    <a:solidFill>
                      <a:srgbClr val="404040"/>
                    </a:solidFill>
                  </a:rPr>
                  <a:t>" / "entropy"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hy-AM" sz="1200" dirty="0">
                    <a:solidFill>
                      <a:srgbClr val="404040"/>
                    </a:solidFill>
                  </a:rPr>
                  <a:t>Ուսուցման ընդհանուր ժամանակը՝ ~12.47 վրկ։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7275" y="1743075"/>
                <a:ext cx="7029449" cy="3752849"/>
              </a:xfrm>
              <a:blipFill>
                <a:blip r:embed="rId2"/>
                <a:stretch>
                  <a:fillRect t="-812" r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AA3C-16AF-D0A0-3E4D-D16FD1CC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08DD-C80A-EF1B-55BB-25D2295C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674" y="0"/>
            <a:ext cx="3324224" cy="68580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hy-AM" sz="1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D4A60-034C-D863-6F92-4C4198DA1091}"/>
              </a:ext>
            </a:extLst>
          </p:cNvPr>
          <p:cNvSpPr txBox="1"/>
          <p:nvPr/>
        </p:nvSpPr>
        <p:spPr>
          <a:xfrm>
            <a:off x="343586" y="3105834"/>
            <a:ext cx="2503704" cy="64633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hy-AM" b="1" dirty="0">
                <a:solidFill>
                  <a:schemeClr val="bg1"/>
                </a:solidFill>
              </a:rPr>
              <a:t>ԹԵՍՏԱՎՈՐՈՒՄ և ԳՆԱՀԱՏՈՒՄ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08126-C3B5-0111-A2EB-65A8FD5D8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99" y="2785525"/>
            <a:ext cx="4749196" cy="39871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ECC807-D9E6-5CEC-EF43-3A04C932DCA8}"/>
              </a:ext>
            </a:extLst>
          </p:cNvPr>
          <p:cNvSpPr txBox="1">
            <a:spLocks/>
          </p:cNvSpPr>
          <p:nvPr/>
        </p:nvSpPr>
        <p:spPr>
          <a:xfrm>
            <a:off x="3358645" y="152020"/>
            <a:ext cx="569010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y-AM" sz="1400" dirty="0"/>
              <a:t>Ուսուցման փուլից հետո հաջորդ կարևոր քայլը մոդելի աշխատանքը գնահատելն է այն տվյալների վրա, որոնք մոդելը երբեք չի տեսել։ Թեստային հավաքածուի վրա մոդելի աշխատանքը գնահատվել է հետևյալ չափանիշներով և ստացել ենք հետևյալ կոնֆուզիոն մատրիցան․</a:t>
            </a:r>
          </a:p>
          <a:p>
            <a:r>
              <a:rPr lang="hy-AM" sz="1400" dirty="0"/>
              <a:t>• </a:t>
            </a:r>
            <a:r>
              <a:rPr lang="en-US" sz="1400" dirty="0"/>
              <a:t>Accuracy = 93.9%</a:t>
            </a:r>
          </a:p>
          <a:p>
            <a:r>
              <a:rPr lang="en-US" sz="1400" dirty="0"/>
              <a:t>• Precision = 97.8%</a:t>
            </a:r>
          </a:p>
          <a:p>
            <a:r>
              <a:rPr lang="en-US" sz="1400" dirty="0"/>
              <a:t>• Recall = 88.2%</a:t>
            </a:r>
          </a:p>
          <a:p>
            <a:r>
              <a:rPr lang="en-US" sz="1400" dirty="0"/>
              <a:t>• F1-score = 92.8%</a:t>
            </a:r>
          </a:p>
        </p:txBody>
      </p:sp>
    </p:spTree>
    <p:extLst>
      <p:ext uri="{BB962C8B-B14F-4D97-AF65-F5344CB8AC3E}">
        <p14:creationId xmlns:p14="http://schemas.microsoft.com/office/powerpoint/2010/main" val="198874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hy-AM" b="1" dirty="0"/>
              <a:t>Արդյունքների Վերլուծություն</a:t>
            </a:r>
            <a:endParaRPr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C0F970-9BC8-F5A3-B051-68886744B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546" y="1843590"/>
            <a:ext cx="6584634" cy="33269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404040"/>
                </a:solidFill>
              </a:rPr>
              <a:t>Մոդելի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գնահատման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փուլում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ստացված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արդյունքները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ցույց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են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տալիս</a:t>
            </a:r>
            <a:r>
              <a:rPr lang="en-US" sz="1400" dirty="0">
                <a:solidFill>
                  <a:srgbClr val="404040"/>
                </a:solidFill>
              </a:rPr>
              <a:t>, </a:t>
            </a:r>
            <a:r>
              <a:rPr lang="en-US" sz="1400" dirty="0" err="1">
                <a:solidFill>
                  <a:srgbClr val="404040"/>
                </a:solidFill>
              </a:rPr>
              <a:t>որ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ձեռքով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իրականացված</a:t>
            </a:r>
            <a:r>
              <a:rPr lang="en-US" sz="1400" dirty="0">
                <a:solidFill>
                  <a:srgbClr val="404040"/>
                </a:solidFill>
              </a:rPr>
              <a:t> Random Forest </a:t>
            </a:r>
            <a:r>
              <a:rPr lang="en-US" sz="1400" dirty="0" err="1">
                <a:solidFill>
                  <a:srgbClr val="404040"/>
                </a:solidFill>
              </a:rPr>
              <a:t>ալգորիթմը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ցուցաբերել</a:t>
            </a:r>
            <a:r>
              <a:rPr lang="en-US" sz="1400" dirty="0">
                <a:solidFill>
                  <a:srgbClr val="404040"/>
                </a:solidFill>
              </a:rPr>
              <a:t> է </a:t>
            </a:r>
            <a:r>
              <a:rPr lang="en-US" sz="1400" dirty="0" err="1">
                <a:solidFill>
                  <a:srgbClr val="404040"/>
                </a:solidFill>
              </a:rPr>
              <a:t>բավական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բարձր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արդյունավետություն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կրծքագեղձի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քաղցկեղի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ախտորոշման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դասակարգման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խնդրում</a:t>
            </a:r>
            <a:r>
              <a:rPr lang="en-US" sz="1400" dirty="0">
                <a:solidFill>
                  <a:srgbClr val="404040"/>
                </a:solidFill>
              </a:rPr>
              <a:t>։ </a:t>
            </a:r>
            <a:r>
              <a:rPr lang="en-US" sz="1400" dirty="0" err="1">
                <a:solidFill>
                  <a:srgbClr val="404040"/>
                </a:solidFill>
              </a:rPr>
              <a:t>Ստացված</a:t>
            </a:r>
            <a:r>
              <a:rPr lang="en-US" sz="1400" dirty="0">
                <a:solidFill>
                  <a:srgbClr val="404040"/>
                </a:solidFill>
              </a:rPr>
              <a:t> Accuracy, Precision, Recall և F1-score </a:t>
            </a:r>
            <a:r>
              <a:rPr lang="en-US" sz="1400" dirty="0" err="1">
                <a:solidFill>
                  <a:srgbClr val="404040"/>
                </a:solidFill>
              </a:rPr>
              <a:t>արժեքները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թույլ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են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տալիս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գնահատել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մոդելի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ուժեղ</a:t>
            </a:r>
            <a:r>
              <a:rPr lang="en-US" sz="1400" dirty="0">
                <a:solidFill>
                  <a:srgbClr val="404040"/>
                </a:solidFill>
              </a:rPr>
              <a:t> և </a:t>
            </a:r>
            <a:r>
              <a:rPr lang="en-US" sz="1400" dirty="0" err="1">
                <a:solidFill>
                  <a:srgbClr val="404040"/>
                </a:solidFill>
              </a:rPr>
              <a:t>թույլ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կողմերը</a:t>
            </a:r>
            <a:r>
              <a:rPr lang="en-US" sz="1400" dirty="0">
                <a:solidFill>
                  <a:srgbClr val="404040"/>
                </a:solidFill>
              </a:rPr>
              <a:t> և </a:t>
            </a:r>
            <a:r>
              <a:rPr lang="en-US" sz="1400" dirty="0" err="1">
                <a:solidFill>
                  <a:srgbClr val="404040"/>
                </a:solidFill>
              </a:rPr>
              <a:t>հասկանալ</a:t>
            </a:r>
            <a:r>
              <a:rPr lang="en-US" sz="1400" dirty="0">
                <a:solidFill>
                  <a:srgbClr val="404040"/>
                </a:solidFill>
              </a:rPr>
              <a:t>՝ </a:t>
            </a:r>
            <a:r>
              <a:rPr lang="en-US" sz="1400" dirty="0" err="1">
                <a:solidFill>
                  <a:srgbClr val="404040"/>
                </a:solidFill>
              </a:rPr>
              <a:t>որ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ուղղություններով</a:t>
            </a:r>
            <a:r>
              <a:rPr lang="en-US" sz="1400" dirty="0">
                <a:solidFill>
                  <a:srgbClr val="404040"/>
                </a:solidFill>
              </a:rPr>
              <a:t> է </a:t>
            </a:r>
            <a:r>
              <a:rPr lang="en-US" sz="1400" dirty="0" err="1">
                <a:solidFill>
                  <a:srgbClr val="404040"/>
                </a:solidFill>
              </a:rPr>
              <a:t>անհրաժեշտ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հետագա</a:t>
            </a:r>
            <a:r>
              <a:rPr lang="en-US" sz="1400" dirty="0">
                <a:solidFill>
                  <a:srgbClr val="404040"/>
                </a:solidFill>
              </a:rPr>
              <a:t> </a:t>
            </a:r>
            <a:r>
              <a:rPr lang="en-US" sz="1400" dirty="0" err="1">
                <a:solidFill>
                  <a:srgbClr val="404040"/>
                </a:solidFill>
              </a:rPr>
              <a:t>կատարելագործում</a:t>
            </a:r>
            <a:r>
              <a:rPr lang="en-US" sz="1400" dirty="0">
                <a:solidFill>
                  <a:srgbClr val="404040"/>
                </a:solidFill>
              </a:rPr>
              <a:t>։</a:t>
            </a:r>
            <a:endParaRPr lang="hy-AM" sz="14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hy-AM" sz="1400" b="1" dirty="0">
                <a:solidFill>
                  <a:srgbClr val="404040"/>
                </a:solidFill>
              </a:rPr>
              <a:t>Որակական դիտարկումներ՝</a:t>
            </a:r>
            <a:endParaRPr lang="hy-AM" sz="14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r>
              <a:rPr lang="hy-AM" sz="1400" dirty="0">
                <a:solidFill>
                  <a:srgbClr val="404040"/>
                </a:solidFill>
              </a:rPr>
              <a:t>Մոդելը շատ բարձր ճշգրտություն ունի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404040"/>
                </a:solidFill>
              </a:rPr>
              <a:t>FP </a:t>
            </a:r>
            <a:r>
              <a:rPr lang="hy-AM" sz="1400" dirty="0">
                <a:solidFill>
                  <a:srgbClr val="404040"/>
                </a:solidFill>
              </a:rPr>
              <a:t>գրեթե չկա → լավ է բժշկական կիրառությունների համար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404040"/>
                </a:solidFill>
              </a:rPr>
              <a:t>Recall-</a:t>
            </a:r>
            <a:r>
              <a:rPr lang="hy-AM" sz="1400" dirty="0">
                <a:solidFill>
                  <a:srgbClr val="404040"/>
                </a:solidFill>
              </a:rPr>
              <a:t>ը բավական բարձր է, բայց այն կարելի է բարելավել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404040"/>
                </a:solidFill>
              </a:rPr>
              <a:t>F1-score-</a:t>
            </a:r>
            <a:r>
              <a:rPr lang="hy-AM" sz="1400" dirty="0">
                <a:solidFill>
                  <a:srgbClr val="404040"/>
                </a:solidFill>
              </a:rPr>
              <a:t>ը ցույց է տալիս հավասարակշռված աշխատանք</a:t>
            </a:r>
          </a:p>
          <a:p>
            <a:pPr>
              <a:lnSpc>
                <a:spcPct val="90000"/>
              </a:lnSpc>
            </a:pPr>
            <a:endParaRPr lang="en-US" sz="13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endParaRPr lang="en-US" sz="13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CF14-F95E-97EE-D404-98F2A60F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1767-5DEF-FDAA-EC42-0CCAD0E8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674" y="0"/>
            <a:ext cx="3324224" cy="68580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hy-AM" sz="1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BD82D-C1CA-C794-A0BE-741CB64C8265}"/>
              </a:ext>
            </a:extLst>
          </p:cNvPr>
          <p:cNvSpPr txBox="1"/>
          <p:nvPr/>
        </p:nvSpPr>
        <p:spPr>
          <a:xfrm>
            <a:off x="343586" y="3105834"/>
            <a:ext cx="2503704" cy="64633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hy-AM" b="1" dirty="0">
                <a:solidFill>
                  <a:schemeClr val="bg1"/>
                </a:solidFill>
              </a:rPr>
              <a:t>ԿԱՐԵՎՈՐ ՀԱՏԿԱՆԻՇՆԵՐ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9A4A34-5C30-B3A8-C3CB-1A8CFD6FB2D6}"/>
              </a:ext>
            </a:extLst>
          </p:cNvPr>
          <p:cNvSpPr txBox="1">
            <a:spLocks/>
          </p:cNvSpPr>
          <p:nvPr/>
        </p:nvSpPr>
        <p:spPr>
          <a:xfrm>
            <a:off x="3358645" y="152020"/>
            <a:ext cx="569010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A312B-E089-DA14-5722-8A47467648E1}"/>
              </a:ext>
            </a:extLst>
          </p:cNvPr>
          <p:cNvSpPr txBox="1"/>
          <p:nvPr/>
        </p:nvSpPr>
        <p:spPr>
          <a:xfrm>
            <a:off x="3728003" y="125795"/>
            <a:ext cx="525407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1500" dirty="0"/>
              <a:t>Պատահական անտառը թույլ է տալիս գնահատել, թե որ հատկանիշներն են ամենաշատ ազդեցությունը գործում մոդելի ընդհանուր կանխատեսումների վրա։</a:t>
            </a:r>
            <a:br>
              <a:rPr lang="hy-AM" sz="1500" dirty="0"/>
            </a:br>
            <a:r>
              <a:rPr lang="hy-AM" sz="1500" dirty="0"/>
              <a:t>Այս կարևորությունը հաշվարկվում է՝ հիմնվելով տվյալ հատկանիշով կատարված բաժանումների որակի և հաճախականության վրա։</a:t>
            </a:r>
          </a:p>
          <a:p>
            <a:endParaRPr lang="hy-AM" sz="1500" dirty="0"/>
          </a:p>
          <a:p>
            <a:endParaRPr lang="hy-AM" sz="1500" dirty="0"/>
          </a:p>
          <a:p>
            <a:r>
              <a:rPr lang="hy-AM" sz="1500" b="1" dirty="0"/>
              <a:t>Ամենակարևոր 10 հատկանիշները՝</a:t>
            </a:r>
            <a:endParaRPr lang="hy-AM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9C913-B093-B545-FBBC-336FFA5C0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657" y="2500012"/>
            <a:ext cx="5847343" cy="343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87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b="1" dirty="0" err="1"/>
              <a:t>Եզրակացություն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62125"/>
            <a:ext cx="6972300" cy="37623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hy-AM" sz="2000" dirty="0">
                <a:solidFill>
                  <a:srgbClr val="404040"/>
                </a:solidFill>
              </a:rPr>
              <a:t>Այս աշխատանքում ուսումնասիրվեց </a:t>
            </a:r>
            <a:r>
              <a:rPr lang="en-US" sz="2000" dirty="0">
                <a:solidFill>
                  <a:srgbClr val="404040"/>
                </a:solidFill>
              </a:rPr>
              <a:t>Breast Cancer Wisconsin dataset–</a:t>
            </a:r>
            <a:r>
              <a:rPr lang="hy-AM" sz="2000" dirty="0">
                <a:solidFill>
                  <a:srgbClr val="404040"/>
                </a:solidFill>
              </a:rPr>
              <a:t>ը, իրականացվեց տվյալների նախնական մշակում, առանձնացվեցին կարևոր հատկանիշները և կառուցվեց </a:t>
            </a:r>
            <a:r>
              <a:rPr lang="en-US" sz="2000" dirty="0">
                <a:solidFill>
                  <a:srgbClr val="404040"/>
                </a:solidFill>
              </a:rPr>
              <a:t>Random Forest </a:t>
            </a:r>
            <a:r>
              <a:rPr lang="hy-AM" sz="2000" dirty="0">
                <a:solidFill>
                  <a:srgbClr val="404040"/>
                </a:solidFill>
              </a:rPr>
              <a:t>մոդել՝ առանց որևէ գրադարանային մոդելի կիրառման</a:t>
            </a:r>
          </a:p>
          <a:p>
            <a:pPr>
              <a:lnSpc>
                <a:spcPct val="90000"/>
              </a:lnSpc>
            </a:pPr>
            <a:r>
              <a:rPr lang="hy-AM" sz="2000" dirty="0">
                <a:solidFill>
                  <a:srgbClr val="404040"/>
                </a:solidFill>
              </a:rPr>
              <a:t>Տվյալների վերլուծությունը բացահայտեց, որ չարորակ և բարորակ ուռուցքները զգալիորեն տարբերվում են մի շարք մորֆոլոգիական հատկանիշներով, իսկ բարձր կորելացիայով հատկանիշների հեռացումը օպտիմիզացրեց տվյալների բազմությունը։</a:t>
            </a:r>
          </a:p>
          <a:p>
            <a:pPr>
              <a:lnSpc>
                <a:spcPct val="90000"/>
              </a:lnSpc>
            </a:pPr>
            <a:r>
              <a:rPr lang="hy-AM" sz="2000" dirty="0">
                <a:solidFill>
                  <a:srgbClr val="404040"/>
                </a:solidFill>
              </a:rPr>
              <a:t>Մոդելը ցուցաբերեց բարձր արդյունավետություն՝</a:t>
            </a:r>
            <a:br>
              <a:rPr lang="hy-AM" sz="2000" dirty="0">
                <a:solidFill>
                  <a:srgbClr val="404040"/>
                </a:solidFill>
              </a:rPr>
            </a:br>
            <a:r>
              <a:rPr lang="en-US" sz="2000" b="1" dirty="0">
                <a:solidFill>
                  <a:srgbClr val="404040"/>
                </a:solidFill>
              </a:rPr>
              <a:t>Accuracy — 93.9%</a:t>
            </a:r>
            <a:r>
              <a:rPr lang="en-US" sz="2000" dirty="0">
                <a:solidFill>
                  <a:srgbClr val="404040"/>
                </a:solidFill>
              </a:rPr>
              <a:t>, </a:t>
            </a:r>
            <a:r>
              <a:rPr lang="en-US" sz="2000" b="1" dirty="0">
                <a:solidFill>
                  <a:srgbClr val="404040"/>
                </a:solidFill>
              </a:rPr>
              <a:t>Precision — 97.8%</a:t>
            </a:r>
            <a:r>
              <a:rPr lang="en-US" sz="2000" dirty="0">
                <a:solidFill>
                  <a:srgbClr val="404040"/>
                </a:solidFill>
              </a:rPr>
              <a:t>, </a:t>
            </a:r>
            <a:r>
              <a:rPr lang="en-US" sz="2000" b="1" dirty="0">
                <a:solidFill>
                  <a:srgbClr val="404040"/>
                </a:solidFill>
              </a:rPr>
              <a:t>Recall — 88.2%</a:t>
            </a:r>
            <a:r>
              <a:rPr lang="en-US" sz="2000" dirty="0">
                <a:solidFill>
                  <a:srgbClr val="404040"/>
                </a:solidFill>
              </a:rPr>
              <a:t>, </a:t>
            </a:r>
            <a:r>
              <a:rPr lang="en-US" sz="2000" b="1" dirty="0">
                <a:solidFill>
                  <a:srgbClr val="404040"/>
                </a:solidFill>
              </a:rPr>
              <a:t>F1-score — 92.8%</a:t>
            </a:r>
            <a:r>
              <a:rPr lang="en-US" sz="2000" dirty="0">
                <a:solidFill>
                  <a:srgbClr val="404040"/>
                </a:solidFill>
              </a:rPr>
              <a:t>,</a:t>
            </a:r>
            <a:endParaRPr lang="hy-AM" sz="2000" dirty="0">
              <a:solidFill>
                <a:srgbClr val="404040"/>
              </a:solidFill>
            </a:endParaRPr>
          </a:p>
          <a:p>
            <a:pPr>
              <a:lnSpc>
                <a:spcPct val="90000"/>
              </a:lnSpc>
            </a:pPr>
            <a:br>
              <a:rPr lang="en-US" sz="2000" dirty="0">
                <a:solidFill>
                  <a:srgbClr val="404040"/>
                </a:solidFill>
              </a:rPr>
            </a:br>
            <a:r>
              <a:rPr lang="hy-AM" sz="2000" dirty="0">
                <a:solidFill>
                  <a:srgbClr val="404040"/>
                </a:solidFill>
              </a:rPr>
              <a:t>ինչը ցույց տվեց մոդելի կայուն աշխատանքը և հավաստի կանխատեսումները։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404040"/>
                </a:solidFill>
              </a:rPr>
              <a:t>Feature Importance–</a:t>
            </a:r>
            <a:r>
              <a:rPr lang="hy-AM" sz="2000" dirty="0">
                <a:solidFill>
                  <a:srgbClr val="404040"/>
                </a:solidFill>
              </a:rPr>
              <a:t>ը ընդգծեց այն հատկանիշները, որոնք բժշկական պրակտիկայում նույնպես համարվում են ուռուցքների կարևոր ցուցանիշներ՝ հաստատելով մոդելի որոշումների տրամաբանականությունը։</a:t>
            </a:r>
          </a:p>
          <a:p>
            <a:pPr>
              <a:lnSpc>
                <a:spcPct val="90000"/>
              </a:lnSpc>
            </a:pPr>
            <a:r>
              <a:rPr lang="hy-AM" sz="2000" dirty="0">
                <a:solidFill>
                  <a:srgbClr val="404040"/>
                </a:solidFill>
              </a:rPr>
              <a:t>Ընդհանուր առմամբ, աշխատանքը ցույց տվեց, որ </a:t>
            </a:r>
            <a:r>
              <a:rPr lang="en-US" sz="2000" dirty="0">
                <a:solidFill>
                  <a:srgbClr val="404040"/>
                </a:solidFill>
              </a:rPr>
              <a:t>Random Forest–</a:t>
            </a:r>
            <a:r>
              <a:rPr lang="hy-AM" sz="2000" dirty="0">
                <a:solidFill>
                  <a:srgbClr val="404040"/>
                </a:solidFill>
              </a:rPr>
              <a:t>ը հզոր և վստահելի մեթոդ է բժշկական դասակարգման խնդիրների համար, իսկ ձեռքով իրականացումն ապացուցեց, որ հնարավոր է ստանալ մրցունակ արդյունքներ նույնիսկ առանց </a:t>
            </a:r>
            <a:r>
              <a:rPr lang="en-US" sz="2000" dirty="0" err="1">
                <a:solidFill>
                  <a:srgbClr val="404040"/>
                </a:solidFill>
              </a:rPr>
              <a:t>sklearn</a:t>
            </a:r>
            <a:r>
              <a:rPr lang="en-US" sz="2000" dirty="0">
                <a:solidFill>
                  <a:srgbClr val="404040"/>
                </a:solidFill>
              </a:rPr>
              <a:t>-</a:t>
            </a:r>
            <a:r>
              <a:rPr lang="hy-AM" sz="2000" dirty="0">
                <a:solidFill>
                  <a:srgbClr val="404040"/>
                </a:solidFill>
              </a:rPr>
              <a:t>ի պատրաստ գործիքների։ Աշխատանքը կարող է ծառայել որպես հիմք հետագա բարելավումների և իրական բժշկական կիրառությունների համար։</a:t>
            </a:r>
          </a:p>
          <a:p>
            <a:pPr>
              <a:lnSpc>
                <a:spcPct val="90000"/>
              </a:lnSpc>
            </a:pPr>
            <a:endParaRPr lang="hy-AM" sz="9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Շնորհակալություն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Հարցե՞ր։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163</TotalTime>
  <Words>2004</Words>
  <Application>Microsoft Office PowerPoint</Application>
  <PresentationFormat>On-screen Show (4:3)</PresentationFormat>
  <Paragraphs>178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Cambria Math</vt:lpstr>
      <vt:lpstr>Gill Sans MT</vt:lpstr>
      <vt:lpstr>Parcel</vt:lpstr>
      <vt:lpstr>Կրծքագեղձի Քաղցկեղի Կանխատեսում Random Forest Ալգորիթմով</vt:lpstr>
      <vt:lpstr>Ներածություն</vt:lpstr>
      <vt:lpstr>Խնդրի Դրվածք</vt:lpstr>
      <vt:lpstr>Տեսկան Դրույթներ Մեքենայական Ուսուցում </vt:lpstr>
      <vt:lpstr>Խնդրի լուծման ալգորիթմը</vt:lpstr>
      <vt:lpstr>Վճիռների Ծառեր (Decision Trees)</vt:lpstr>
      <vt:lpstr>Gini և entropy</vt:lpstr>
      <vt:lpstr>Random Forest Ալգորիթմը</vt:lpstr>
      <vt:lpstr>ՊԱՏԱՀԱԿԱՆ ԱՆՏԱՌ – ԱՌԱՎԵԼՈՒԹՅՈՒՆՆԵՐ և ԹԵՐՈՒԹՅՈՒՆՆԵՐ</vt:lpstr>
      <vt:lpstr>Գնահատման չափանիշներ</vt:lpstr>
      <vt:lpstr>Տվյալների Աղբյուր</vt:lpstr>
      <vt:lpstr>Տվյալների հավաքածոի</vt:lpstr>
      <vt:lpstr>Տվյալների Մաքրում և Նախապատրաստում</vt:lpstr>
      <vt:lpstr> </vt:lpstr>
      <vt:lpstr> </vt:lpstr>
      <vt:lpstr>Մեքենայական Իրականացում</vt:lpstr>
      <vt:lpstr>Մոդելի Ուսուցում</vt:lpstr>
      <vt:lpstr> </vt:lpstr>
      <vt:lpstr>Արդյունքների Վերլուծություն</vt:lpstr>
      <vt:lpstr> </vt:lpstr>
      <vt:lpstr>Եզրակացություն</vt:lpstr>
      <vt:lpstr>Շնորհակալություն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Կարմիրշալյան Վահե Դավթի</cp:lastModifiedBy>
  <cp:revision>1</cp:revision>
  <dcterms:created xsi:type="dcterms:W3CDTF">2013-01-27T09:14:16Z</dcterms:created>
  <dcterms:modified xsi:type="dcterms:W3CDTF">2025-11-30T11:18:49Z</dcterms:modified>
  <cp:category/>
</cp:coreProperties>
</file>